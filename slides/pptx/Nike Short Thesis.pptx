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ommendation" id="{62558035-78f9-6946-b20d-2e2d6497bb22}">
          <p14:sldIdLst>
            <p14:sldId id="256"/>
            <p14:sldId id="257"/>
            <p14:sldId id="258"/>
          </p14:sldIdLst>
        </p14:section>
        <p14:section name="Fundamentals and valuation" id="{25458b41-2c2e-83a1-3add-782e326dbcfa}">
          <p14:sldIdLst>
            <p14:sldId id="259"/>
            <p14:sldId id="260"/>
            <p14:sldId id="261"/>
            <p14:sldId id="262"/>
          </p14:sldIdLst>
        </p14:section>
        <p14:section name="Evidence" id="{d85b4c9f-a17b-60af-26a1-e21af8d75596}">
          <p14:sldIdLst>
            <p14:sldId id="263"/>
            <p14:sldId id="264"/>
          </p14:sldIdLst>
        </p14:section>
        <p14:section name="Risks and catalysts" id="{ebce699d-364b-3b8c-fc85-53c37b279e01}">
          <p14:sldIdLst>
            <p14:sldId id="265"/>
            <p14:sldId id="266"/>
          </p14:sldIdLst>
        </p14:section>
        <p14:section name="Appendix" id="{d9b20c58-ac63-7430-07b5-5611031458e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Revenue ($B)</a:t>
            </a:r>
          </a:p>
        </c:rich>
      </c:tx>
      <c:layout/>
      <c:overlay val="0"/>
    </c:title>
    <c:autoTitleDeleted val="0"/>
    <c:plotArea>
      <c:layout/>
      <c:barChart>
        <c:barDir val="col"/>
        <c:grouping val="clustered"/>
        <c:varyColors val="0"/>
        <c:ser>
          <c:idx val="0"/>
          <c:order val="0"/>
          <c:tx>
            <c:strRef>
              <c:f>Sheet1!$B$1</c:f>
              <c:strCache>
                <c:ptCount val="1"/>
                <c:pt idx="0">
                  <c:v>Revenue ($B)</c:v>
                </c:pt>
              </c:strCache>
            </c:strRef>
          </c:tx>
          <c:spPr>
            <a:solidFill>
              <a:srgbClr val="0B2A4A"/>
            </a:solidFill>
            <a:effectLst/>
          </c:spPr>
          <c:invertIfNegative val="0"/>
          <c:dLbls>
            <c:numFmt formatCode="&quot;$&quot;0.0&quot;B&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B2A4A"/>
              </a:solidFill>
              <a:effectLst/>
            </c:spPr>
          </c:dPt>
          <c:dPt>
            <c:idx val="1"/>
            <c:invertIfNegative val="0"/>
            <c:bubble3D val="0"/>
            <c:spPr>
              <a:solidFill>
                <a:srgbClr val="0B2A4A"/>
              </a:solidFill>
              <a:effectLst/>
            </c:spPr>
          </c:dPt>
          <c:dPt>
            <c:idx val="2"/>
            <c:invertIfNegative val="0"/>
            <c:bubble3D val="0"/>
            <c:spPr>
              <a:solidFill>
                <a:srgbClr val="0B2A4A"/>
              </a:solidFill>
              <a:effectLst/>
            </c:spPr>
          </c:dPt>
          <c:dPt>
            <c:idx val="3"/>
            <c:invertIfNegative val="0"/>
            <c:bubble3D val="0"/>
            <c:spPr>
              <a:solidFill>
                <a:srgbClr val="9FB0C0"/>
              </a:solidFill>
              <a:effectLst/>
            </c:spPr>
          </c:dPt>
          <c:cat>
            <c:multiLvlStrRef>
              <c:f>Sheet1!$A$2:$A$5</c:f>
              <c:multiLvlStrCache>
                <c:ptCount val="4"/>
                <c:lvl>
                  <c:pt idx="0">
                    <c:v>FY24</c:v>
                  </c:pt>
                  <c:pt idx="1">
                    <c:v>FY25</c:v>
                  </c:pt>
                  <c:pt idx="2">
                    <c:v>FY26</c:v>
                  </c:pt>
                  <c:pt idx="3">
                    <c:v>FY27E (guide mid)</c:v>
                  </c:pt>
                </c:lvl>
              </c:multiLvlStrCache>
            </c:multiLvlStrRef>
          </c:cat>
          <c:val>
            <c:numRef>
              <c:f>Sheet1!$B$2:$B$5</c:f>
              <c:numCache>
                <c:formatCode>General</c:formatCode>
                <c:ptCount val="4"/>
                <c:pt idx="0">
                  <c:v>51.4</c:v>
                </c:pt>
                <c:pt idx="1">
                  <c:v>46.3</c:v>
                </c:pt>
                <c:pt idx="2">
                  <c:v>46.4</c:v>
                </c:pt>
                <c:pt idx="3">
                  <c:v>42.7</c:v>
                </c:pt>
              </c:numCache>
            </c:numRef>
          </c:val>
        </c:ser>
        <c:dLbls>
          <c:numFmt formatCode="&quot;$&quot;0.0&quot;B&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Operating (EBIT) margin (%), consensus for FY27E and FY28E</a:t>
            </a:r>
          </a:p>
        </c:rich>
      </c:tx>
      <c:layout/>
      <c:overlay val="0"/>
    </c:title>
    <c:autoTitleDeleted val="0"/>
    <c:plotArea>
      <c:layout/>
      <c:barChart>
        <c:barDir val="col"/>
        <c:grouping val="clustered"/>
        <c:varyColors val="0"/>
        <c:ser>
          <c:idx val="0"/>
          <c:order val="0"/>
          <c:tx>
            <c:strRef>
              <c:f>Sheet1!$B$1</c:f>
              <c:strCache>
                <c:ptCount val="1"/>
                <c:pt idx="0">
                  <c:v>Operating margin (%)</c:v>
                </c:pt>
              </c:strCache>
            </c:strRef>
          </c:tx>
          <c:spPr>
            <a:solidFill>
              <a:srgbClr val="0B2A4A"/>
            </a:solidFill>
            <a:effectLst/>
          </c:spPr>
          <c:invertIfNegative val="0"/>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B2A4A"/>
              </a:solidFill>
              <a:effectLst/>
            </c:spPr>
          </c:dPt>
          <c:dPt>
            <c:idx val="1"/>
            <c:invertIfNegative val="0"/>
            <c:bubble3D val="0"/>
            <c:spPr>
              <a:solidFill>
                <a:srgbClr val="0B2A4A"/>
              </a:solidFill>
              <a:effectLst/>
            </c:spPr>
          </c:dPt>
          <c:dPt>
            <c:idx val="2"/>
            <c:invertIfNegative val="0"/>
            <c:bubble3D val="0"/>
            <c:spPr>
              <a:solidFill>
                <a:srgbClr val="0B2A4A"/>
              </a:solidFill>
              <a:effectLst/>
            </c:spPr>
          </c:dPt>
          <c:dPt>
            <c:idx val="3"/>
            <c:invertIfNegative val="0"/>
            <c:bubble3D val="0"/>
            <c:spPr>
              <a:solidFill>
                <a:srgbClr val="9FB0C0"/>
              </a:solidFill>
              <a:effectLst/>
            </c:spPr>
          </c:dPt>
          <c:dPt>
            <c:idx val="4"/>
            <c:invertIfNegative val="0"/>
            <c:bubble3D val="0"/>
            <c:spPr>
              <a:solidFill>
                <a:srgbClr val="9FB0C0"/>
              </a:solidFill>
              <a:effectLst/>
            </c:spPr>
          </c:dPt>
          <c:cat>
            <c:multiLvlStrRef>
              <c:f>Sheet1!$A$2:$A$6</c:f>
              <c:multiLvlStrCache>
                <c:ptCount val="5"/>
                <c:lvl>
                  <c:pt idx="0">
                    <c:v>FY24</c:v>
                  </c:pt>
                  <c:pt idx="1">
                    <c:v>FY25</c:v>
                  </c:pt>
                  <c:pt idx="2">
                    <c:v>FY26</c:v>
                  </c:pt>
                  <c:pt idx="3">
                    <c:v>FY27E</c:v>
                  </c:pt>
                  <c:pt idx="4">
                    <c:v>FY28E</c:v>
                  </c:pt>
                </c:lvl>
              </c:multiLvlStrCache>
            </c:multiLvlStrRef>
          </c:cat>
          <c:val>
            <c:numRef>
              <c:f>Sheet1!$B$2:$B$6</c:f>
              <c:numCache>
                <c:formatCode>General</c:formatCode>
                <c:ptCount val="5"/>
                <c:pt idx="0">
                  <c:v>12.7</c:v>
                </c:pt>
                <c:pt idx="1">
                  <c:v>8.2</c:v>
                </c:pt>
                <c:pt idx="2">
                  <c:v>8.3</c:v>
                </c:pt>
                <c:pt idx="3">
                  <c:v>5.7</c:v>
                </c:pt>
                <c:pt idx="4">
                  <c:v>7.2</c:v>
                </c:pt>
              </c:numCache>
            </c:numRef>
          </c:val>
        </c:ser>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Price to FY28E earnings (x); Puma (88x) not meaningful and not shown</a:t>
            </a:r>
          </a:p>
        </c:rich>
      </c:tx>
      <c:layout/>
      <c:overlay val="0"/>
    </c:title>
    <c:autoTitleDeleted val="0"/>
    <c:plotArea>
      <c:layout/>
      <c:barChart>
        <c:barDir val="col"/>
        <c:grouping val="clustered"/>
        <c:varyColors val="0"/>
        <c:ser>
          <c:idx val="0"/>
          <c:order val="0"/>
          <c:tx>
            <c:strRef>
              <c:f>Sheet1!$B$1</c:f>
              <c:strCache>
                <c:ptCount val="1"/>
                <c:pt idx="0">
                  <c:v>P/E FY28E</c:v>
                </c:pt>
              </c:strCache>
            </c:strRef>
          </c:tx>
          <c:spPr>
            <a:solidFill>
              <a:srgbClr val="9FB0C0"/>
            </a:solidFill>
            <a:effectLst/>
          </c:spPr>
          <c:invertIfNegative val="0"/>
          <c:dLbls>
            <c:numFmt formatCode="0.0&quot;x&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9FB0C0"/>
              </a:solidFill>
              <a:effectLst/>
            </c:spPr>
          </c:dPt>
          <c:dPt>
            <c:idx val="1"/>
            <c:invertIfNegative val="0"/>
            <c:bubble3D val="0"/>
            <c:spPr>
              <a:solidFill>
                <a:srgbClr val="9FB0C0"/>
              </a:solidFill>
              <a:effectLst/>
            </c:spPr>
          </c:dPt>
          <c:dPt>
            <c:idx val="2"/>
            <c:invertIfNegative val="0"/>
            <c:bubble3D val="0"/>
            <c:spPr>
              <a:solidFill>
                <a:srgbClr val="A4262C"/>
              </a:solidFill>
              <a:effectLst/>
            </c:spPr>
          </c:dPt>
          <c:dPt>
            <c:idx val="3"/>
            <c:invertIfNegative val="0"/>
            <c:bubble3D val="0"/>
            <c:spPr>
              <a:solidFill>
                <a:srgbClr val="9FB0C0"/>
              </a:solidFill>
              <a:effectLst/>
            </c:spPr>
          </c:dPt>
          <c:dPt>
            <c:idx val="4"/>
            <c:invertIfNegative val="0"/>
            <c:bubble3D val="0"/>
            <c:spPr>
              <a:solidFill>
                <a:srgbClr val="9FB0C0"/>
              </a:solidFill>
              <a:effectLst/>
            </c:spPr>
          </c:dPt>
          <c:dPt>
            <c:idx val="5"/>
            <c:invertIfNegative val="0"/>
            <c:bubble3D val="0"/>
            <c:spPr>
              <a:solidFill>
                <a:srgbClr val="9FB0C0"/>
              </a:solidFill>
              <a:effectLst/>
            </c:spPr>
          </c:dPt>
          <c:dPt>
            <c:idx val="6"/>
            <c:invertIfNegative val="0"/>
            <c:bubble3D val="0"/>
            <c:spPr>
              <a:solidFill>
                <a:srgbClr val="9FB0C0"/>
              </a:solidFill>
              <a:effectLst/>
            </c:spPr>
          </c:dPt>
          <c:dPt>
            <c:idx val="7"/>
            <c:invertIfNegative val="0"/>
            <c:bubble3D val="0"/>
            <c:spPr>
              <a:solidFill>
                <a:srgbClr val="9FB0C0"/>
              </a:solidFill>
              <a:effectLst/>
            </c:spPr>
          </c:dPt>
          <c:dPt>
            <c:idx val="8"/>
            <c:invertIfNegative val="0"/>
            <c:bubble3D val="0"/>
            <c:spPr>
              <a:solidFill>
                <a:srgbClr val="9FB0C0"/>
              </a:solidFill>
              <a:effectLst/>
            </c:spPr>
          </c:dPt>
          <c:cat>
            <c:multiLvlStrRef>
              <c:f>Sheet1!$A$2:$A$10</c:f>
              <c:multiLvlStrCache>
                <c:ptCount val="9"/>
                <c:lvl>
                  <c:pt idx="0">
                    <c:v>Under Armour</c:v>
                  </c:pt>
                  <c:pt idx="1">
                    <c:v>ASICS</c:v>
                  </c:pt>
                  <c:pt idx="2">
                    <c:v>Nike</c:v>
                  </c:pt>
                  <c:pt idx="3">
                    <c:v>On</c:v>
                  </c:pt>
                  <c:pt idx="4">
                    <c:v>adidas</c:v>
                  </c:pt>
                  <c:pt idx="5">
                    <c:v>VF Corp</c:v>
                  </c:pt>
                  <c:pt idx="6">
                    <c:v>Lululemon</c:v>
                  </c:pt>
                  <c:pt idx="7">
                    <c:v>Anta</c:v>
                  </c:pt>
                  <c:pt idx="8">
                    <c:v>Deckers</c:v>
                  </c:pt>
                </c:lvl>
              </c:multiLvlStrCache>
            </c:multiLvlStrRef>
          </c:cat>
          <c:val>
            <c:numRef>
              <c:f>Sheet1!$B$2:$B$10</c:f>
              <c:numCache>
                <c:formatCode>General</c:formatCode>
                <c:ptCount val="9"/>
                <c:pt idx="0">
                  <c:v>25.3</c:v>
                </c:pt>
                <c:pt idx="1">
                  <c:v>21.8</c:v>
                </c:pt>
                <c:pt idx="2">
                  <c:v>21.5</c:v>
                </c:pt>
                <c:pt idx="3">
                  <c:v>17.3</c:v>
                </c:pt>
                <c:pt idx="4">
                  <c:v>13.2</c:v>
                </c:pt>
                <c:pt idx="5">
                  <c:v>11.9</c:v>
                </c:pt>
                <c:pt idx="6">
                  <c:v>10.9</c:v>
                </c:pt>
                <c:pt idx="7">
                  <c:v>10.9</c:v>
                </c:pt>
                <c:pt idx="8">
                  <c:v>10</c:v>
                </c:pt>
              </c:numCache>
            </c:numRef>
          </c:val>
        </c:ser>
        <c:dLbls>
          <c:numFmt formatCode="0.0&quot;x&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Operating (EBIT) margin (%)</a:t>
            </a:r>
          </a:p>
        </c:rich>
      </c:tx>
      <c:layout/>
      <c:overlay val="0"/>
    </c:title>
    <c:autoTitleDeleted val="0"/>
    <c:plotArea>
      <c:layout/>
      <c:barChart>
        <c:barDir val="col"/>
        <c:grouping val="clustered"/>
        <c:varyColors val="0"/>
        <c:ser>
          <c:idx val="0"/>
          <c:order val="0"/>
          <c:tx>
            <c:strRef>
              <c:f>Sheet1!$B$1</c:f>
              <c:strCache>
                <c:ptCount val="1"/>
                <c:pt idx="0">
                  <c:v>Operating margin</c:v>
                </c:pt>
              </c:strCache>
            </c:strRef>
          </c:tx>
          <c:spPr>
            <a:solidFill>
              <a:srgbClr val="9FB0C0"/>
            </a:solidFill>
            <a:effectLst/>
          </c:spPr>
          <c:invertIfNegative val="0"/>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9FB0C0"/>
              </a:solidFill>
              <a:effectLst/>
            </c:spPr>
          </c:dPt>
          <c:dPt>
            <c:idx val="1"/>
            <c:invertIfNegative val="0"/>
            <c:bubble3D val="0"/>
            <c:spPr>
              <a:solidFill>
                <a:srgbClr val="9FB0C0"/>
              </a:solidFill>
              <a:effectLst/>
            </c:spPr>
          </c:dPt>
          <c:dPt>
            <c:idx val="2"/>
            <c:invertIfNegative val="0"/>
            <c:bubble3D val="0"/>
            <c:spPr>
              <a:solidFill>
                <a:srgbClr val="0B2A4A"/>
              </a:solidFill>
              <a:effectLst/>
            </c:spPr>
          </c:dPt>
          <c:dPt>
            <c:idx val="3"/>
            <c:invertIfNegative val="0"/>
            <c:bubble3D val="0"/>
            <c:spPr>
              <a:solidFill>
                <a:srgbClr val="0B2A4A"/>
              </a:solidFill>
              <a:effectLst/>
            </c:spPr>
          </c:dPt>
          <c:cat>
            <c:multiLvlStrRef>
              <c:f>Sheet1!$A$2:$A$5</c:f>
              <c:multiLvlStrCache>
                <c:ptCount val="4"/>
                <c:lvl>
                  <c:pt idx="0">
                    <c:v>FY28E consensus</c:v>
                  </c:pt>
                  <c:pt idx="1">
                    <c:v>FY26 actual</c:v>
                  </c:pt>
                  <c:pt idx="2">
                    <c:v>10-year average</c:v>
                  </c:pt>
                  <c:pt idx="3">
                    <c:v>FY24 actual</c:v>
                  </c:pt>
                </c:lvl>
              </c:multiLvlStrCache>
            </c:multiLvlStrRef>
          </c:cat>
          <c:val>
            <c:numRef>
              <c:f>Sheet1!$B$2:$B$5</c:f>
              <c:numCache>
                <c:formatCode>General</c:formatCode>
                <c:ptCount val="4"/>
                <c:pt idx="0">
                  <c:v>7.2</c:v>
                </c:pt>
                <c:pt idx="1">
                  <c:v>8.3</c:v>
                </c:pt>
                <c:pt idx="2">
                  <c:v>11.8</c:v>
                </c:pt>
                <c:pt idx="3">
                  <c:v>12.7</c:v>
                </c:pt>
              </c:numCache>
            </c:numRef>
          </c:val>
        </c:ser>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Diluted EPS ($)</a:t>
            </a:r>
          </a:p>
        </c:rich>
      </c:tx>
      <c:layout/>
      <c:overlay val="0"/>
    </c:title>
    <c:autoTitleDeleted val="0"/>
    <c:plotArea>
      <c:layout/>
      <c:barChart>
        <c:barDir val="col"/>
        <c:grouping val="clustered"/>
        <c:varyColors val="0"/>
        <c:ser>
          <c:idx val="0"/>
          <c:order val="0"/>
          <c:tx>
            <c:strRef>
              <c:f>Sheet1!$B$1</c:f>
              <c:strCache>
                <c:ptCount val="1"/>
                <c:pt idx="0">
                  <c:v>EPS ($)</c:v>
                </c:pt>
              </c:strCache>
            </c:strRef>
          </c:tx>
          <c:spPr>
            <a:solidFill>
              <a:srgbClr val="0B2A4A"/>
            </a:solidFill>
            <a:effectLst/>
          </c:spPr>
          <c:invertIfNegative val="0"/>
          <c:dLbls>
            <c:numFmt formatCode="&quot;$&quot;0.00"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0B2A4A"/>
              </a:solidFill>
              <a:effectLst/>
            </c:spPr>
          </c:dPt>
          <c:dPt>
            <c:idx val="1"/>
            <c:invertIfNegative val="0"/>
            <c:bubble3D val="0"/>
            <c:spPr>
              <a:solidFill>
                <a:srgbClr val="0B2A4A"/>
              </a:solidFill>
              <a:effectLst/>
            </c:spPr>
          </c:dPt>
          <c:dPt>
            <c:idx val="2"/>
            <c:invertIfNegative val="0"/>
            <c:bubble3D val="0"/>
            <c:spPr>
              <a:solidFill>
                <a:srgbClr val="A4262C"/>
              </a:solidFill>
              <a:effectLst/>
            </c:spPr>
          </c:dPt>
          <c:dPt>
            <c:idx val="3"/>
            <c:invertIfNegative val="0"/>
            <c:bubble3D val="0"/>
            <c:spPr>
              <a:solidFill>
                <a:srgbClr val="9FB0C0"/>
              </a:solidFill>
              <a:effectLst/>
            </c:spPr>
          </c:dPt>
          <c:cat>
            <c:multiLvlStrRef>
              <c:f>Sheet1!$A$2:$A$5</c:f>
              <c:multiLvlStrCache>
                <c:ptCount val="4"/>
                <c:lvl>
                  <c:pt idx="0">
                    <c:v>FY26 adjusted (ex tariff refund)</c:v>
                  </c:pt>
                  <c:pt idx="1">
                    <c:v>FY27E guide midpoint</c:v>
                  </c:pt>
                  <c:pt idx="2">
                    <c:v>FY28E consensus, today</c:v>
                  </c:pt>
                  <c:pt idx="3">
                    <c:v>FY28E consensus, 30 days ago</c:v>
                  </c:pt>
                </c:lvl>
              </c:multiLvlStrCache>
            </c:multiLvlStrRef>
          </c:cat>
          <c:val>
            <c:numRef>
              <c:f>Sheet1!$B$2:$B$5</c:f>
              <c:numCache>
                <c:formatCode>General</c:formatCode>
                <c:ptCount val="4"/>
                <c:pt idx="0">
                  <c:v>1.58</c:v>
                </c:pt>
                <c:pt idx="1">
                  <c:v>1.25</c:v>
                </c:pt>
                <c:pt idx="2">
                  <c:v>1.65</c:v>
                </c:pt>
                <c:pt idx="3">
                  <c:v>2.22</c:v>
                </c:pt>
              </c:numCache>
            </c:numRef>
          </c:val>
        </c:ser>
        <c:dLbls>
          <c:numFmt formatCode="&quot;$&quot;0.00"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4A"/>
                </a:solidFill>
                <a:latin typeface="+mn-lt"/>
              </a:defRPr>
            </a:pPr>
            <a:r>
              <a:rPr sz="1300" b="0" i="0" u="none" strike="noStrike">
                <a:solidFill>
                  <a:srgbClr val="0B2A4A"/>
                </a:solidFill>
                <a:latin typeface="+mn-lt"/>
              </a:rPr>
              <a:t>Change in store doors, mid-2023 to mid-2026 (%)</a:t>
            </a:r>
          </a:p>
        </c:rich>
      </c:tx>
      <c:layout/>
      <c:overlay val="0"/>
    </c:title>
    <c:autoTitleDeleted val="0"/>
    <c:plotArea>
      <c:layout/>
      <c:barChart>
        <c:barDir val="bar"/>
        <c:grouping val="clustered"/>
        <c:varyColors val="0"/>
        <c:ser>
          <c:idx val="0"/>
          <c:order val="0"/>
          <c:tx>
            <c:strRef>
              <c:f>Sheet1!$B$1</c:f>
              <c:strCache>
                <c:ptCount val="1"/>
                <c:pt idx="0">
                  <c:v>Change in doors, 3 years (%)</c:v>
                </c:pt>
              </c:strCache>
            </c:strRef>
          </c:tx>
          <c:spPr>
            <a:solidFill>
              <a:srgbClr val="A4262C"/>
            </a:solidFill>
            <a:effectLst/>
          </c:spPr>
          <c:invertIfNegative val="0"/>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A4262C"/>
              </a:solidFill>
              <a:effectLst/>
            </c:spPr>
          </c:dPt>
          <c:dPt>
            <c:idx val="1"/>
            <c:invertIfNegative val="0"/>
            <c:bubble3D val="0"/>
            <c:spPr>
              <a:solidFill>
                <a:srgbClr val="9FB0C0"/>
              </a:solidFill>
              <a:effectLst/>
            </c:spPr>
          </c:dPt>
          <c:dPt>
            <c:idx val="2"/>
            <c:invertIfNegative val="0"/>
            <c:bubble3D val="0"/>
            <c:spPr>
              <a:solidFill>
                <a:srgbClr val="9FB0C0"/>
              </a:solidFill>
              <a:effectLst/>
            </c:spPr>
          </c:dPt>
          <c:dPt>
            <c:idx val="3"/>
            <c:invertIfNegative val="0"/>
            <c:bubble3D val="0"/>
            <c:spPr>
              <a:solidFill>
                <a:srgbClr val="9FB0C0"/>
              </a:solidFill>
              <a:effectLst/>
            </c:spPr>
          </c:dPt>
          <c:dPt>
            <c:idx val="4"/>
            <c:invertIfNegative val="0"/>
            <c:bubble3D val="0"/>
            <c:spPr>
              <a:solidFill>
                <a:srgbClr val="9FB0C0"/>
              </a:solidFill>
              <a:effectLst/>
            </c:spPr>
          </c:dPt>
          <c:dPt>
            <c:idx val="5"/>
            <c:invertIfNegative val="0"/>
            <c:bubble3D val="0"/>
            <c:spPr>
              <a:solidFill>
                <a:srgbClr val="9FB0C0"/>
              </a:solidFill>
              <a:effectLst/>
            </c:spPr>
          </c:dPt>
          <c:dPt>
            <c:idx val="6"/>
            <c:invertIfNegative val="0"/>
            <c:bubble3D val="0"/>
            <c:spPr>
              <a:solidFill>
                <a:srgbClr val="9FB0C0"/>
              </a:solidFill>
              <a:effectLst/>
            </c:spPr>
          </c:dPt>
          <c:dPt>
            <c:idx val="7"/>
            <c:invertIfNegative val="0"/>
            <c:bubble3D val="0"/>
            <c:spPr>
              <a:solidFill>
                <a:srgbClr val="9FB0C0"/>
              </a:solidFill>
              <a:effectLst/>
            </c:spPr>
          </c:dPt>
          <c:cat>
            <c:multiLvlStrRef>
              <c:f>Sheet1!$A$2:$A$9</c:f>
              <c:multiLvlStrCache>
                <c:ptCount val="8"/>
                <c:lvl>
                  <c:pt idx="0">
                    <c:v>Topsports + Pou Sheng (Nike's largest partners)</c:v>
                  </c:pt>
                  <c:pt idx="1">
                    <c:v>361 Degrees core</c:v>
                  </c:pt>
                  <c:pt idx="2">
                    <c:v>361 Degrees Kids</c:v>
                  </c:pt>
                  <c:pt idx="3">
                    <c:v>Xtep Kids</c:v>
                  </c:pt>
                  <c:pt idx="4">
                    <c:v>ANTA KIDS</c:v>
                  </c:pt>
                  <c:pt idx="5">
                    <c:v>Xtep Adult</c:v>
                  </c:pt>
                  <c:pt idx="6">
                    <c:v>Li-Ning</c:v>
                  </c:pt>
                  <c:pt idx="7">
                    <c:v>ANTA</c:v>
                  </c:pt>
                </c:lvl>
              </c:multiLvlStrCache>
            </c:multiLvlStrRef>
          </c:cat>
          <c:val>
            <c:numRef>
              <c:f>Sheet1!$B$2:$B$9</c:f>
              <c:numCache>
                <c:formatCode>General</c:formatCode>
                <c:ptCount val="8"/>
                <c:pt idx="0">
                  <c:v>-26</c:v>
                </c:pt>
                <c:pt idx="1">
                  <c:v>-10</c:v>
                </c:pt>
                <c:pt idx="2">
                  <c:v>-10</c:v>
                </c:pt>
                <c:pt idx="3">
                  <c:v>-8.4</c:v>
                </c:pt>
                <c:pt idx="4">
                  <c:v>-4.9</c:v>
                </c:pt>
                <c:pt idx="5">
                  <c:v>-2.1</c:v>
                </c:pt>
                <c:pt idx="6">
                  <c:v>-1.7</c:v>
                </c:pt>
                <c:pt idx="7">
                  <c:v>2.6</c:v>
                </c:pt>
              </c:numCache>
            </c:numRef>
          </c:val>
        </c:ser>
        <c:dLbls>
          <c:numFmt formatCode="0.0&quot;%&quot;" sourceLinked="0"/>
          <c:txPr>
            <a:bodyPr/>
            <a:lstStyle/>
            <a:p>
              <a:pPr>
                <a:defRPr b="1" i="0" strike="noStrike" sz="12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8"/>
          <c:min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means we expect the share price to fall, or to do worse than peers. The pitch is deliberately narrow: FY28 expectations are too high. We do not rely on a near-term earnings miss, because Nike has met or beaten its quarterly guidance 14 of 14 times under CEO Elliott Hill. Peer multiples are one pull from Yahoo Finance at the Oct 13 close and should be refreshed around Oct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1) FY28 consensus needs a margin gain Nike has not delivered in any recent year. 2) The decline is not only Nike-specific, but Nike is losing share in markets that are still growing, with China the clearest case. 3) The repair timetable keeps slipping. 4) We state the risks openly: running is real, tariffs are lower than Nike planned, and the short is crowded but not a squeeze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summary after independent checkers re-pulled samples and re-ran the tests. Several early findings were downgraded (see the appendix). Strength grades are the post-checker grades. Running is graded neutral because volume is real but price health is mixed.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FY24 $51,362M, FY25 $46,309M (sum of quarters), FY26 $46,398M. FY27E is the midpoint of a high-single-digit decline read as -7% to -9% (about $42.2B to $43.2B); Nike did not say whether the guide is reported or currency-neutral. Operating (EBIT) margin: FY24 12.7%, FY25 8.2%, FY26 8.3%. FY27E and FY28E margins are consensus (5.7% and 7.2%). FY26 EPS of $2.10 includes a one-time $0.52 tariff refund; adjusted $1.58.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27.4x means investors pay $27.40 for $1 of expected FY27 earnings. Nine peers: adidas, Puma, Deckers, On, Lululemon, Under Armour, ASICS, Anta, VF. Puma at 88x on FY28 is not meaningful and is excluded from the chart (it is included in the median calculation as reported). The premium is +41% against six footwear-led peers, +81% without Puma and Under Armour, and +10% against the fast growers On and ASICS. EV multiples are from the Oct 12 table and were not refreshed. Refresh from one source near Oct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reverse DCF starts from today's price and asks what long-run margin the market must assume. WACC is the yearly return investors demand; a higher WACC needs a higher margin. We show 8%, 9% and 10% because 9% and 10% both come from standard equity risk premium choices (Damodaran and Kroll). This is not a price target and no model is built yet. The 10-year average of 11.8% is our arithmetic on reported margins. Scoreboard caution: this supports 'FY28 and beyond is priced for a rebound', not 'the price assumes FY24 margins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Margin arithmetic: $1.65 on roughly flat revenue implies operating margin of about 7.2% versus about 5.5% in FY27, a gain of about 170 bp. Nike's best one-year margin gain between FY22 and FY26 was 60 bp. FY28 consensus was $2.22 thirty days earlier (Yahoo earningsTrend), so it has already been cut by 26%; with 24 cuts in 7 days, more cuts look likely, but that is our view. Quotes are from the Q1 FY27 call on Oct 1,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FY26 revenue $46,398M. Q1 FY27 $11,213M, down 4.3%. A full-year decline of 7% to 9% (our read of 'high-single digits'; the release does not say whether reported or currency-neutral) requires Q2 to Q4 to fall 7.9% to 10.6%. Outside China the range assumes Greater China falls 26% to 40% for the rest of the year. If the guide is currency-neutral, the figures improve by about 1 point and the conclusion still holds. Performance (about $16B) and its growth are management statements on the call. Quarterly guidance was met or beaten 14 of 14 times under Hill, so we do not rely on a Q2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Topsports plus Pou Sheng: 9,932 doors (Jun/Aug 2023) to about 7,322 (Jun 2026). The June 2026 Topsports count is an estimate from May selling area; Topsports reports August doors on Oct 28. No source counts Nike-only doors; the partners also sell adidas and others, and sales per door are rising (Topsports Nike-plus-adidas revenue per average door RMB 3.91m, 4.18m, 4.76m for FY24 to FY26), so some closures are cleanup. 361 and the kids lines are also closing stores, so 'domestic brands hold' applies only to ANTA, Li-Ning and Xtep adult. Nike's store-locator count of 2,438 is stale and must not be cited. China overall is our strongest grade because of Nike's own guide and the peer-set share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Crowded short: 99.2M shares short at Sep 30, 2026 is 8.2% of the 1,203.9M Class B shares that trade (the repo's earlier 6.7% used all share classes). Borrow is cheap (Interactive Brokers 0.41%, Ortex 0.53%), lendable supply is about five times the short, and on Oct 1 to 2 255M shares traded without a squeeze. After record short interest in 27 consumer stocks (2021 to 2026), shorts won 81 of 119 at 6 months, but about 12% of cases ended more than 25% above the market, mostly on earnings-day jumps. Express the idea with puts or a limited-loss structure. Insider buying did not predict returns in historical tests, and the checker found two Form 144 sale notices by the former CFO.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rules written in advance. Investor Day: a dated long-term operating margin target of 13% or more with an interim bridge would falsify the margin argument; an undated target or one below about 12% supports it. Feng Tay October revenue is published on Taiwan's MOPS around the 10th of each month; thresholds are on a two-year US-dollar basis. Q2 FY27 results arrive around Dec 17, after finals. The dividend is usually declared between Nov 14 and 20; a freeze or token raise is the likely outcome and a mild positive; a large raise would work against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free-data areas were collected (stores, hiring, trade, resale, pricing, attention, apps, reviews, insiders and funds, market size, peers, marketing), plus earnings calls, tariffs, history and short-interest checks. A separate checker re-pulled samples and re-ran tests for each area. These are the main corrections. Items that could not be measured: Nike's own US shipment volumes (Nike's name is masked in public bills of lading), and Census trade data needs an email registration which was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trace to the documents below or to labeled team arithmetic. The repo holds the cleaned data, scripts and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2A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86868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Nike, Inc. (NYSE: NKE)  |  Short thesis  |  Team draft, October 14, 2026</a:t>
            </a:r>
            <a:endParaRPr lang="en-US" sz="1000" dirty="0"/>
          </a:p>
        </p:txBody>
      </p:sp>
      <p:sp>
        <p:nvSpPr>
          <p:cNvPr id="3" name="Text 1"/>
          <p:cNvSpPr/>
          <p:nvPr>
            <p:ph idx="101" type="title" hasCustomPrompt="1"/>
          </p:nvPr>
        </p:nvSpPr>
        <p:spPr>
          <a:xfrm>
            <a:off x="548640" y="347472"/>
            <a:ext cx="11091672" cy="914400"/>
          </a:xfrm>
          <a:prstGeom prst="rect">
            <a:avLst/>
          </a:prstGeom>
          <a:noFill/>
          <a:ln/>
        </p:spPr>
        <p:txBody>
          <a:bodyPr wrap="square" rtlCol="0"/>
          <a:lstStyle>
            <a:lvl1pPr algn="l" indent="0" marL="0">
              <a:buNone/>
              <a:defRPr lang="en-US" sz="2400" b="1" dirty="0">
                <a:solidFill>
                  <a:srgbClr val="0B2A4A"/>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822960"/>
            <a:ext cx="7315200" cy="365760"/>
          </a:xfrm>
          <a:prstGeom prst="rect">
            <a:avLst/>
          </a:prstGeom>
          <a:noFill/>
          <a:ln/>
        </p:spPr>
        <p:txBody>
          <a:bodyPr wrap="square" lIns="0" tIns="0" rIns="0" bIns="0" rtlCol="0" anchor="ctr"/>
          <a:lstStyle/>
          <a:p>
            <a:pPr indent="0" marL="0">
              <a:buNone/>
            </a:pPr>
            <a:r>
              <a:rPr lang="en-US" sz="1600" dirty="0">
                <a:solidFill>
                  <a:srgbClr val="9FB0C0"/>
                </a:solidFill>
                <a:latin typeface="Arial" pitchFamily="34" charset="0"/>
                <a:ea typeface="Arial" pitchFamily="34" charset="-122"/>
                <a:cs typeface="Arial" pitchFamily="34" charset="-120"/>
              </a:rPr>
              <a:t>Nike, Inc. (NYSE: NKE)</a:t>
            </a:r>
            <a:endParaRPr lang="en-US" sz="1600" dirty="0"/>
          </a:p>
        </p:txBody>
      </p:sp>
      <p:sp>
        <p:nvSpPr>
          <p:cNvPr id="3" name="Text 1"/>
          <p:cNvSpPr txBox="1"/>
          <p:nvPr/>
        </p:nvSpPr>
        <p:spPr>
          <a:xfrm>
            <a:off x="822960" y="1188720"/>
            <a:ext cx="8229600" cy="365760"/>
          </a:xfrm>
          <a:prstGeom prst="rect">
            <a:avLst/>
          </a:prstGeom>
          <a:noFill/>
          <a:ln/>
        </p:spPr>
        <p:txBody>
          <a:bodyPr wrap="square" lIns="0" tIns="0" rIns="0" bIns="0" rtlCol="0" anchor="ctr"/>
          <a:lstStyle/>
          <a:p>
            <a:pPr indent="0" marL="0">
              <a:buNone/>
            </a:pPr>
            <a:r>
              <a:rPr lang="en-US" sz="1400" dirty="0">
                <a:solidFill>
                  <a:srgbClr val="9FB0C0"/>
                </a:solidFill>
                <a:latin typeface="Arial" pitchFamily="34" charset="0"/>
                <a:ea typeface="Arial" pitchFamily="34" charset="-122"/>
                <a:cs typeface="Arial" pitchFamily="34" charset="-120"/>
              </a:rPr>
              <a:t>Equity research case competition  |  Team draft</a:t>
            </a:r>
            <a:endParaRPr lang="en-US" sz="1400" dirty="0"/>
          </a:p>
        </p:txBody>
      </p:sp>
      <p:sp>
        <p:nvSpPr>
          <p:cNvPr id="4" name="Text 2"/>
          <p:cNvSpPr txBox="1"/>
          <p:nvPr/>
        </p:nvSpPr>
        <p:spPr>
          <a:xfrm>
            <a:off x="822960" y="2377440"/>
            <a:ext cx="8229600" cy="457200"/>
          </a:xfrm>
          <a:prstGeom prst="rect">
            <a:avLst/>
          </a:prstGeom>
          <a:noFill/>
          <a:ln/>
        </p:spPr>
        <p:txBody>
          <a:bodyPr wrap="square" lIns="0" tIns="0" rIns="0" bIns="0" rtlCol="0" anchor="ctr"/>
          <a:lstStyle/>
          <a:p>
            <a:pPr indent="0" marL="0">
              <a:buNone/>
            </a:pPr>
            <a:r>
              <a:rPr lang="en-US" sz="2000" b="1" dirty="0">
                <a:solidFill>
                  <a:srgbClr val="E8735F"/>
                </a:solidFill>
                <a:latin typeface="Arial" pitchFamily="34" charset="0"/>
                <a:ea typeface="Arial" pitchFamily="34" charset="-122"/>
                <a:cs typeface="Arial" pitchFamily="34" charset="-120"/>
              </a:rPr>
              <a:t>Recommendation: SHORT</a:t>
            </a:r>
            <a:endParaRPr lang="en-US" sz="2000" dirty="0"/>
          </a:p>
        </p:txBody>
      </p:sp>
      <p:sp>
        <p:nvSpPr>
          <p:cNvPr id="5" name="Text 3"/>
          <p:cNvSpPr txBox="1"/>
          <p:nvPr/>
        </p:nvSpPr>
        <p:spPr>
          <a:xfrm>
            <a:off x="822960" y="2926080"/>
            <a:ext cx="9692640" cy="146304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The fix is real. The FY28 rebound the price assumes is not supported by Nike's own guidance.</a:t>
            </a:r>
            <a:endParaRPr lang="en-US" sz="3600" dirty="0"/>
          </a:p>
        </p:txBody>
      </p:sp>
      <p:sp>
        <p:nvSpPr>
          <p:cNvPr id="6" name="Text 4"/>
          <p:cNvSpPr txBox="1"/>
          <p:nvPr/>
        </p:nvSpPr>
        <p:spPr>
          <a:xfrm>
            <a:off x="822960" y="5074920"/>
            <a:ext cx="265176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$35.35</a:t>
            </a:r>
            <a:endParaRPr lang="en-US" sz="2600" dirty="0"/>
          </a:p>
        </p:txBody>
      </p:sp>
      <p:sp>
        <p:nvSpPr>
          <p:cNvPr id="7" name="Text 5"/>
          <p:cNvSpPr txBox="1"/>
          <p:nvPr/>
        </p:nvSpPr>
        <p:spPr>
          <a:xfrm>
            <a:off x="822960" y="5577840"/>
            <a:ext cx="2560320" cy="457200"/>
          </a:xfrm>
          <a:prstGeom prst="rect">
            <a:avLst/>
          </a:prstGeom>
          <a:noFill/>
          <a:ln/>
        </p:spPr>
        <p:txBody>
          <a:bodyPr wrap="square" lIns="0" tIns="0" rIns="0" bIns="0" rtlCol="0" anchor="t"/>
          <a:lstStyle/>
          <a:p>
            <a:pPr indent="0" marL="0">
              <a:buNone/>
            </a:pPr>
            <a:r>
              <a:rPr lang="en-US" sz="1200" dirty="0">
                <a:solidFill>
                  <a:srgbClr val="9FB0C0"/>
                </a:solidFill>
                <a:latin typeface="Arial" pitchFamily="34" charset="0"/>
                <a:ea typeface="Arial" pitchFamily="34" charset="-122"/>
                <a:cs typeface="Arial" pitchFamily="34" charset="-120"/>
              </a:rPr>
              <a:t>Share price, Oct 12, 2026</a:t>
            </a:r>
            <a:endParaRPr lang="en-US" sz="1200" dirty="0"/>
          </a:p>
        </p:txBody>
      </p:sp>
      <p:sp>
        <p:nvSpPr>
          <p:cNvPr id="8" name="Text 6"/>
          <p:cNvSpPr txBox="1"/>
          <p:nvPr/>
        </p:nvSpPr>
        <p:spPr>
          <a:xfrm>
            <a:off x="3611880" y="5074920"/>
            <a:ext cx="265176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21.5x</a:t>
            </a:r>
            <a:endParaRPr lang="en-US" sz="2600" dirty="0"/>
          </a:p>
        </p:txBody>
      </p:sp>
      <p:sp>
        <p:nvSpPr>
          <p:cNvPr id="9" name="Text 7"/>
          <p:cNvSpPr txBox="1"/>
          <p:nvPr/>
        </p:nvSpPr>
        <p:spPr>
          <a:xfrm>
            <a:off x="3611880" y="5577840"/>
            <a:ext cx="2560320" cy="457200"/>
          </a:xfrm>
          <a:prstGeom prst="rect">
            <a:avLst/>
          </a:prstGeom>
          <a:noFill/>
          <a:ln/>
        </p:spPr>
        <p:txBody>
          <a:bodyPr wrap="square" lIns="0" tIns="0" rIns="0" bIns="0" rtlCol="0" anchor="t"/>
          <a:lstStyle/>
          <a:p>
            <a:pPr indent="0" marL="0">
              <a:buNone/>
            </a:pPr>
            <a:r>
              <a:rPr lang="en-US" sz="1200" dirty="0">
                <a:solidFill>
                  <a:srgbClr val="9FB0C0"/>
                </a:solidFill>
                <a:latin typeface="Arial" pitchFamily="34" charset="0"/>
                <a:ea typeface="Arial" pitchFamily="34" charset="-122"/>
                <a:cs typeface="Arial" pitchFamily="34" charset="-120"/>
              </a:rPr>
              <a:t>P/E on FY28E (peer median 13.2x)</a:t>
            </a:r>
            <a:endParaRPr lang="en-US" sz="1200" dirty="0"/>
          </a:p>
        </p:txBody>
      </p:sp>
      <p:sp>
        <p:nvSpPr>
          <p:cNvPr id="10" name="Text 8"/>
          <p:cNvSpPr txBox="1"/>
          <p:nvPr/>
        </p:nvSpPr>
        <p:spPr>
          <a:xfrm>
            <a:off x="6400800" y="5074920"/>
            <a:ext cx="265176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$1.65</a:t>
            </a:r>
            <a:endParaRPr lang="en-US" sz="2600" dirty="0"/>
          </a:p>
        </p:txBody>
      </p:sp>
      <p:sp>
        <p:nvSpPr>
          <p:cNvPr id="11" name="Text 9"/>
          <p:cNvSpPr txBox="1"/>
          <p:nvPr/>
        </p:nvSpPr>
        <p:spPr>
          <a:xfrm>
            <a:off x="6400800" y="5577840"/>
            <a:ext cx="2560320" cy="457200"/>
          </a:xfrm>
          <a:prstGeom prst="rect">
            <a:avLst/>
          </a:prstGeom>
          <a:noFill/>
          <a:ln/>
        </p:spPr>
        <p:txBody>
          <a:bodyPr wrap="square" lIns="0" tIns="0" rIns="0" bIns="0" rtlCol="0" anchor="t"/>
          <a:lstStyle/>
          <a:p>
            <a:pPr indent="0" marL="0">
              <a:buNone/>
            </a:pPr>
            <a:r>
              <a:rPr lang="en-US" sz="1200" dirty="0">
                <a:solidFill>
                  <a:srgbClr val="9FB0C0"/>
                </a:solidFill>
                <a:latin typeface="Arial" pitchFamily="34" charset="0"/>
                <a:ea typeface="Arial" pitchFamily="34" charset="-122"/>
                <a:cs typeface="Arial" pitchFamily="34" charset="-120"/>
              </a:rPr>
              <a:t>FY28E consensus EPS</a:t>
            </a:r>
            <a:endParaRPr lang="en-US" sz="1200" dirty="0"/>
          </a:p>
        </p:txBody>
      </p:sp>
      <p:sp>
        <p:nvSpPr>
          <p:cNvPr id="12" name="Text 10"/>
          <p:cNvSpPr txBox="1"/>
          <p:nvPr/>
        </p:nvSpPr>
        <p:spPr>
          <a:xfrm>
            <a:off x="9189720" y="5074920"/>
            <a:ext cx="265176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Nov 16 to 17</a:t>
            </a:r>
            <a:endParaRPr lang="en-US" sz="2600" dirty="0"/>
          </a:p>
        </p:txBody>
      </p:sp>
      <p:sp>
        <p:nvSpPr>
          <p:cNvPr id="13" name="Text 11"/>
          <p:cNvSpPr txBox="1"/>
          <p:nvPr/>
        </p:nvSpPr>
        <p:spPr>
          <a:xfrm>
            <a:off x="9189720" y="5577840"/>
            <a:ext cx="2560320" cy="457200"/>
          </a:xfrm>
          <a:prstGeom prst="rect">
            <a:avLst/>
          </a:prstGeom>
          <a:noFill/>
          <a:ln/>
        </p:spPr>
        <p:txBody>
          <a:bodyPr wrap="square" lIns="0" tIns="0" rIns="0" bIns="0" rtlCol="0" anchor="t"/>
          <a:lstStyle/>
          <a:p>
            <a:pPr indent="0" marL="0">
              <a:buNone/>
            </a:pPr>
            <a:r>
              <a:rPr lang="en-US" sz="1200" dirty="0">
                <a:solidFill>
                  <a:srgbClr val="9FB0C0"/>
                </a:solidFill>
                <a:latin typeface="Arial" pitchFamily="34" charset="0"/>
                <a:ea typeface="Arial" pitchFamily="34" charset="-122"/>
                <a:cs typeface="Arial" pitchFamily="34" charset="-120"/>
              </a:rPr>
              <a:t>Investor Day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We recommend a short: the stock prices a FY28 recovery that Nike's own guidance does not support</a:t>
            </a:r>
            <a:endParaRPr lang="en-US" sz="2400" dirty="0"/>
          </a:p>
        </p:txBody>
      </p:sp>
      <p:sp>
        <p:nvSpPr>
          <p:cNvPr id="4" name="Key points"/>
          <p:cNvSpPr txBox="1"/>
          <p:nvPr/>
        </p:nvSpPr>
        <p:spPr>
          <a:xfrm>
            <a:off x="548640" y="1508760"/>
            <a:ext cx="6766560" cy="4206240"/>
          </a:xfrm>
          <a:prstGeom prst="rect">
            <a:avLst/>
          </a:prstGeom>
          <a:noFill/>
          <a:ln/>
        </p:spPr>
        <p:txBody>
          <a:bodyPr wrap="square" lIns="0" tIns="0" rIns="0" bIns="0" rtlCol="0" anchor="t"/>
          <a:lstStyle/>
          <a:p>
            <a:pPr indent="0" marL="0">
              <a:buNone/>
            </a:pPr>
            <a:r>
              <a:rPr lang="en-US" sz="1500" b="1" dirty="0">
                <a:solidFill>
                  <a:srgbClr val="0B2A4A"/>
                </a:solidFill>
                <a:latin typeface="Arial" pitchFamily="34" charset="0"/>
                <a:ea typeface="Arial" pitchFamily="34" charset="-122"/>
                <a:cs typeface="Arial" pitchFamily="34" charset="-120"/>
              </a:rPr>
              <a:t>FY28 is the debate. </a:t>
            </a:r>
            <a:pPr indent="0" marL="0">
              <a:spcAft>
                <a:spcPts val="1600"/>
              </a:spcAft>
              <a:buNone/>
            </a:pPr>
            <a:r>
              <a:rPr lang="en-US" sz="1500" dirty="0">
                <a:solidFill>
                  <a:srgbClr val="1F2933"/>
                </a:solidFill>
                <a:latin typeface="Arial" pitchFamily="34" charset="0"/>
                <a:ea typeface="Arial" pitchFamily="34" charset="-122"/>
                <a:cs typeface="Arial" pitchFamily="34" charset="-120"/>
              </a:rPr>
              <a:t>Consensus EPS of $1.65 (+28%) on about +1% revenue needs about +170 bp of operating margin. Nike's best annual gain from FY22 to FY26 was 60 bp. Management says the pain will "bleed into fiscal '28" and declined to discuss FY28 revenue.</a:t>
            </a:r>
            <a:endParaRPr lang="en-US" sz="1500" dirty="0"/>
          </a:p>
          <a:p>
            <a:pPr indent="0" marL="0">
              <a:buNone/>
            </a:pPr>
            <a:r>
              <a:rPr lang="en-US" sz="1500" b="1" dirty="0">
                <a:solidFill>
                  <a:srgbClr val="0B2A4A"/>
                </a:solidFill>
                <a:latin typeface="Arial" pitchFamily="34" charset="0"/>
                <a:ea typeface="Arial" pitchFamily="34" charset="-122"/>
                <a:cs typeface="Arial" pitchFamily="34" charset="-120"/>
              </a:rPr>
              <a:t>Share loss in growing markets. </a:t>
            </a:r>
            <a:pPr indent="0" marL="0">
              <a:spcAft>
                <a:spcPts val="1600"/>
              </a:spcAft>
              <a:buNone/>
            </a:pPr>
            <a:r>
              <a:rPr lang="en-US" sz="1500" dirty="0">
                <a:solidFill>
                  <a:srgbClr val="1F2933"/>
                </a:solidFill>
                <a:latin typeface="Arial" pitchFamily="34" charset="0"/>
                <a:ea typeface="Arial" pitchFamily="34" charset="-122"/>
                <a:cs typeface="Arial" pitchFamily="34" charset="-120"/>
              </a:rPr>
              <a:t>US footwear spending rose about 11.6% over FY24 to FY26 while Nike North America footwear revenue fell about 10.5%. In China, Nike guides worse than the -26% of Q1 FY27.</a:t>
            </a:r>
            <a:endParaRPr lang="en-US" sz="1500" dirty="0"/>
          </a:p>
          <a:p>
            <a:pPr indent="0" marL="0">
              <a:buNone/>
            </a:pPr>
            <a:r>
              <a:rPr lang="en-US" sz="1500" b="1" dirty="0">
                <a:solidFill>
                  <a:srgbClr val="0B2A4A"/>
                </a:solidFill>
                <a:latin typeface="Arial" pitchFamily="34" charset="0"/>
                <a:ea typeface="Arial" pitchFamily="34" charset="-122"/>
                <a:cs typeface="Arial" pitchFamily="34" charset="-120"/>
              </a:rPr>
              <a:t>The repair keeps slipping. </a:t>
            </a:r>
            <a:pPr indent="0" marL="0">
              <a:spcAft>
                <a:spcPts val="1600"/>
              </a:spcAft>
              <a:buNone/>
            </a:pPr>
            <a:r>
              <a:rPr lang="en-US" sz="1500" dirty="0">
                <a:solidFill>
                  <a:srgbClr val="1F2933"/>
                </a:solidFill>
                <a:latin typeface="Arial" pitchFamily="34" charset="0"/>
                <a:ea typeface="Arial" pitchFamily="34" charset="-122"/>
                <a:cs typeface="Arial" pitchFamily="34" charset="-120"/>
              </a:rPr>
              <a:t>The December 2026 finish date was dropped, nike.com discounting is flat year on year (31.0% of pages vs 30.5%), and every multi-year profit target from 2017 and 2021 was missed.</a:t>
            </a:r>
            <a:endParaRPr lang="en-US" sz="1500" dirty="0"/>
          </a:p>
          <a:p>
            <a:pPr indent="0" marL="0">
              <a:buNone/>
            </a:pPr>
            <a:r>
              <a:rPr lang="en-US" sz="1500" b="1" dirty="0">
                <a:solidFill>
                  <a:srgbClr val="0B2A4A"/>
                </a:solidFill>
                <a:latin typeface="Arial" pitchFamily="34" charset="0"/>
                <a:ea typeface="Arial" pitchFamily="34" charset="-122"/>
                <a:cs typeface="Arial" pitchFamily="34" charset="-120"/>
              </a:rPr>
              <a:t>We state what could break the short. </a:t>
            </a:r>
            <a:pPr indent="0" marL="0">
              <a:spcAft>
                <a:spcPts val="1600"/>
              </a:spcAft>
              <a:buNone/>
            </a:pPr>
            <a:r>
              <a:rPr lang="en-US" sz="1500" dirty="0">
                <a:solidFill>
                  <a:srgbClr val="1F2933"/>
                </a:solidFill>
                <a:latin typeface="Arial" pitchFamily="34" charset="0"/>
                <a:ea typeface="Arial" pitchFamily="34" charset="-122"/>
                <a:cs typeface="Arial" pitchFamily="34" charset="-120"/>
              </a:rPr>
              <a:t>Running volume is real, tariff relief is worth about $0.08 to $0.12 of FY28 EPS, and quarterly guidance was met or beaten 14 of 14 times. We short FY28, not a Q2 miss.</a:t>
            </a:r>
            <a:endParaRPr lang="en-US" sz="1500" dirty="0"/>
          </a:p>
        </p:txBody>
      </p:sp>
      <p:sp>
        <p:nvSpPr>
          <p:cNvPr id="5" name="Text 2"/>
          <p:cNvSpPr txBox="1"/>
          <p:nvPr/>
        </p:nvSpPr>
        <p:spPr>
          <a:xfrm>
            <a:off x="7726680" y="1508760"/>
            <a:ext cx="3840480" cy="292608"/>
          </a:xfrm>
          <a:prstGeom prst="rect">
            <a:avLst/>
          </a:prstGeom>
          <a:noFill/>
          <a:ln/>
        </p:spPr>
        <p:txBody>
          <a:bodyPr wrap="square" lIns="0" tIns="0" rIns="0" bIns="0" rtlCol="0" anchor="ctr"/>
          <a:lstStyle/>
          <a:p>
            <a:pPr indent="0" marL="0">
              <a:buNone/>
            </a:pPr>
            <a:r>
              <a:rPr lang="en-US" sz="1200" b="1" dirty="0">
                <a:solidFill>
                  <a:srgbClr val="0B2A4A"/>
                </a:solidFill>
                <a:latin typeface="Arial" pitchFamily="34" charset="0"/>
                <a:ea typeface="Arial" pitchFamily="34" charset="-122"/>
                <a:cs typeface="Arial" pitchFamily="34" charset="-120"/>
              </a:rPr>
              <a:t>Key data</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26680" y="1874520"/>
          <a:ext cx="3913632" cy="914400"/>
        </p:xfrm>
        <a:graphic>
          <a:graphicData uri="http://schemas.openxmlformats.org/drawingml/2006/table">
            <a:tbl>
              <a:tblPr/>
              <a:tblGrid>
                <a:gridCol w="2542032"/>
                <a:gridCol w="137160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Share price (Oct 12, 2026)</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1F2933"/>
                          </a:solidFill>
                          <a:latin typeface="Arial" pitchFamily="34" charset="0"/>
                          <a:ea typeface="Arial" pitchFamily="34" charset="-122"/>
                          <a:cs typeface="Arial" pitchFamily="34" charset="-120"/>
                        </a:rPr>
                        <a:t>$35.35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Market capitalization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about $52.5B</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P/E, FY27E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27.4x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P/E, FY28E (peer median 13.2x)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A4262C"/>
                          </a:solidFill>
                          <a:latin typeface="Arial" pitchFamily="34" charset="0"/>
                          <a:ea typeface="Arial" pitchFamily="34" charset="-122"/>
                          <a:cs typeface="Arial" pitchFamily="34" charset="-120"/>
                        </a:rPr>
                        <a:t>21.5x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FY27 guide, adjusted EPS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$1.15 to $1.35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FY28E consensus EPS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$1.65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Short interest, % of tradable shares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8.2%</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7"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Nike FY26 10-K, Q1 FY27 10-Q, Q1 FY27 earnings release and call (Oct 1, 2026); Yahoo Finance (Oct 13, 2026 close); FINRA (Sep 30, 2026); BEA PCE footwear; team analysis.</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Five of eight tests lean short and none leans long; China is the only strong grade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834640"/>
                <a:gridCol w="5788152"/>
                <a:gridCol w="1463040"/>
                <a:gridCol w="1005840"/>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Question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What the data shows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Direction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Strength</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Has China found a floor?</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Nike guides worse than -26%; partners closing doors faster than ANTA, Li-Ning, Xtep adult; peer-set share 65% (2022) to 50% (H1 2026)</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A4262C"/>
                          </a:solidFill>
                          <a:latin typeface="Arial" pitchFamily="34" charset="0"/>
                          <a:ea typeface="Arial" pitchFamily="34" charset="-122"/>
                          <a:cs typeface="Arial" pitchFamily="34" charset="-120"/>
                        </a:rPr>
                        <a:t>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1F2933"/>
                          </a:solidFill>
                          <a:latin typeface="Arial" pitchFamily="34" charset="0"/>
                          <a:ea typeface="Arial" pitchFamily="34" charset="-122"/>
                          <a:cs typeface="Arial" pitchFamily="34" charset="-120"/>
                        </a:rPr>
                        <a:t>Strong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Is North America demand growing?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Consumer demand not growing; channel fill cannot be proven (units at or above real spending)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A4262C"/>
                          </a:solidFill>
                          <a:latin typeface="Arial" pitchFamily="34" charset="0"/>
                          <a:ea typeface="Arial" pitchFamily="34" charset="-122"/>
                          <a:cs typeface="Arial" pitchFamily="34" charset="-120"/>
                        </a:rPr>
                        <a:t>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4572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Are factory orders turning?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Feng Tay about -6% a month on a two-year basis, no turn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A4262C"/>
                          </a:solidFill>
                          <a:latin typeface="Arial" pitchFamily="34" charset="0"/>
                          <a:ea typeface="Arial" pitchFamily="34" charset="-122"/>
                          <a:cs typeface="Arial" pitchFamily="34" charset="-120"/>
                        </a:rPr>
                        <a:t>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4572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Is discounting improving?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nike.com 30.5% to 31.0% of pages discounted; not clearly worse than rivals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A4262C"/>
                          </a:solidFill>
                          <a:latin typeface="Arial" pitchFamily="34" charset="0"/>
                          <a:ea typeface="Arial" pitchFamily="34" charset="-122"/>
                          <a:cs typeface="Arial" pitchFamily="34" charset="-120"/>
                        </a:rPr>
                        <a:t>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Are lifestyle classics near a bottom?</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Dunk and Air Force 1 at a price floor; Jordan retro is not (AJ1 High resale -22% in USD)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A4262C"/>
                          </a:solidFill>
                          <a:latin typeface="Arial" pitchFamily="34" charset="0"/>
                          <a:ea typeface="Arial" pitchFamily="34" charset="-122"/>
                          <a:cs typeface="Arial" pitchFamily="34" charset="-120"/>
                        </a:rPr>
                        <a:t>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Is running real or discount-driven?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Volume real (Dick's reviews +49% vs Hoka +22%); Pegasus 42 marked down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5B7083"/>
                          </a:solidFill>
                          <a:latin typeface="Arial" pitchFamily="34" charset="0"/>
                          <a:ea typeface="Arial" pitchFamily="34" charset="-122"/>
                          <a:cs typeface="Arial" pitchFamily="34" charset="-120"/>
                        </a:rPr>
                        <a:t>Neutral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Are expectations too high?</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Q2 and FY27 match evidence; FY28 EPS looks high; tariff relief offsets part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5B7083"/>
                          </a:solidFill>
                          <a:latin typeface="Arial" pitchFamily="34" charset="0"/>
                          <a:ea typeface="Arial" pitchFamily="34" charset="-122"/>
                          <a:cs typeface="Arial" pitchFamily="34" charset="-120"/>
                        </a:rPr>
                        <a:t>Neutral (decider)</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12064">
                <a:tc>
                  <a:txBody>
                    <a:bodyPr/>
                    <a:lstStyle/>
                    <a:p>
                      <a:pPr indent="0" marL="0">
                        <a:buNone/>
                      </a:pPr>
                      <a:r>
                        <a:rPr lang="en-US" sz="1200" b="1" dirty="0">
                          <a:solidFill>
                            <a:srgbClr val="1F2933"/>
                          </a:solidFill>
                          <a:latin typeface="Arial" pitchFamily="34" charset="0"/>
                          <a:ea typeface="Arial" pitchFamily="34" charset="-122"/>
                          <a:cs typeface="Arial" pitchFamily="34" charset="-120"/>
                        </a:rPr>
                        <a:t>Do similar setups bottom?</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Coin flip; short interest, fund exits and insider buying did not predict returns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b="1" dirty="0">
                          <a:solidFill>
                            <a:srgbClr val="5B7083"/>
                          </a:solidFill>
                          <a:latin typeface="Arial" pitchFamily="34" charset="0"/>
                          <a:ea typeface="Arial" pitchFamily="34" charset="-122"/>
                          <a:cs typeface="Arial" pitchFamily="34" charset="-120"/>
                        </a:rPr>
                        <a:t>Neutral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ctr" indent="0" marL="0">
                        <a:buNone/>
                      </a:pPr>
                      <a:r>
                        <a:rPr lang="en-US" sz="1200" dirty="0">
                          <a:solidFill>
                            <a:srgbClr val="1F2933"/>
                          </a:solidFill>
                          <a:latin typeface="Arial" pitchFamily="34" charset="0"/>
                          <a:ea typeface="Arial" pitchFamily="34" charset="-122"/>
                          <a:cs typeface="Arial" pitchFamily="34" charset="-120"/>
                        </a:rPr>
                        <a:t>Moderate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5"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team scoreboard after checker review (research_notes/Long or short cruxes/00_SCOREBOARD.md): Nike filings and calls; HKEX filings (Topsports, Pou Sheng, ANTA, Li-Ning, Xtep); Taiwan MOPS; Common Crawl nike.com panel; SNKRDUNK; BEA.</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Sales are down 10% from FY24 and operating margin has fallen about four points; FY27 is guided lower again</a:t>
            </a:r>
            <a:endParaRPr lang="en-US" sz="2400" dirty="0"/>
          </a:p>
        </p:txBody>
      </p:sp>
      <p:graphicFrame>
        <p:nvGraphicFramePr>
          <p:cNvPr id="4" name="Chart 0" descr=""/>
          <p:cNvGraphicFramePr/>
          <p:nvPr/>
        </p:nvGraphicFramePr>
        <p:xfrm>
          <a:off x="548640" y="150876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508760"/>
          <a:ext cx="5422392" cy="356616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166360"/>
            <a:ext cx="11091672" cy="45720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FY26 reported EPS of $2.10 includes a one-time $0.52 tariff refund (adjusted $1.58). FY27 guide: adjusted EPS $1.15 to $1.35.</a:t>
            </a:r>
            <a:endParaRPr lang="en-US" sz="1300" dirty="0"/>
          </a:p>
        </p:txBody>
      </p:sp>
      <p:sp>
        <p:nvSpPr>
          <p:cNvPr id="7"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Nike FY24 10-K p.57, FY26 10-K p.55, Q1 FY27 release. FY25 revenue is the sum of reported quarters. FY27E revenue is the midpoint of a guide read as -7% to -9%. FY27E and FY28E margins are consensus (repo notes, Oct 13, 2026).</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Nike trades at a 63% premium to peers on FY28 earnings, but at the peer median on sales and cash profit</a:t>
            </a:r>
            <a:endParaRPr lang="en-US" sz="2400" dirty="0"/>
          </a:p>
        </p:txBody>
      </p:sp>
      <p:graphicFrame>
        <p:nvGraphicFramePr>
          <p:cNvPr id="4" name="Chart 0" descr=""/>
          <p:cNvGraphicFramePr/>
          <p:nvPr/>
        </p:nvGraphicFramePr>
        <p:xfrm>
          <a:off x="548640" y="15087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315200" y="1600200"/>
            <a:ext cx="4297680" cy="292608"/>
          </a:xfrm>
          <a:prstGeom prst="rect">
            <a:avLst/>
          </a:prstGeom>
          <a:noFill/>
          <a:ln/>
        </p:spPr>
        <p:txBody>
          <a:bodyPr wrap="square" lIns="0" tIns="0" rIns="0" bIns="0" rtlCol="0" anchor="ctr"/>
          <a:lstStyle/>
          <a:p>
            <a:pPr indent="0" marL="0">
              <a:buNone/>
            </a:pPr>
            <a:r>
              <a:rPr lang="en-US" sz="1200" b="1" dirty="0">
                <a:solidFill>
                  <a:srgbClr val="0B2A4A"/>
                </a:solidFill>
                <a:latin typeface="Arial" pitchFamily="34" charset="0"/>
                <a:ea typeface="Arial" pitchFamily="34" charset="-122"/>
                <a:cs typeface="Arial" pitchFamily="34" charset="-120"/>
              </a:rPr>
              <a:t>Nike vs peer median (nine peers)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0" y="1965960"/>
          <a:ext cx="4325112" cy="914400"/>
        </p:xfrm>
        <a:graphic>
          <a:graphicData uri="http://schemas.openxmlformats.org/drawingml/2006/table">
            <a:tbl>
              <a:tblPr/>
              <a:tblGrid>
                <a:gridCol w="1828800"/>
                <a:gridCol w="1097280"/>
                <a:gridCol w="1399032"/>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Multiple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Nike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Peer median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P/E, FY27E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1F2933"/>
                          </a:solidFill>
                          <a:latin typeface="Arial" pitchFamily="34" charset="0"/>
                          <a:ea typeface="Arial" pitchFamily="34" charset="-122"/>
                          <a:cs typeface="Arial" pitchFamily="34" charset="-120"/>
                        </a:rPr>
                        <a:t>27.4x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15.8x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P/E, FY28E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A4262C"/>
                          </a:solidFill>
                          <a:latin typeface="Arial" pitchFamily="34" charset="0"/>
                          <a:ea typeface="Arial" pitchFamily="34" charset="-122"/>
                          <a:cs typeface="Arial" pitchFamily="34" charset="-120"/>
                        </a:rPr>
                        <a:t>21.5x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13.2x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EV / Sales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1.20x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1.18x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EV / EBITDA</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11.3x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11.6x</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7" name="Text 2"/>
          <p:cNvSpPr txBox="1"/>
          <p:nvPr/>
        </p:nvSpPr>
        <p:spPr>
          <a:xfrm>
            <a:off x="7315200" y="4114800"/>
            <a:ext cx="4325112" cy="128016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On sales and cash profit Nike already trades like an average peer. The whole premium is a bet that its profit margin comes back.</a:t>
            </a:r>
            <a:endParaRPr lang="en-US" sz="1400" dirty="0"/>
          </a:p>
        </p:txBody>
      </p:sp>
      <p:sp>
        <p:nvSpPr>
          <p:cNvPr id="8"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Yahoo Finance forward P/E, one pull at the Oct 13, 2026 close; EV/Sales and EV/EBITDA from the Oct 12, 2026 peer table (not refreshed). Peers: adidas, Puma, Deckers, On, Lululemon, Under Armour, ASICS, Anta, VF.</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To justify today's price, long-run margin must return to roughly 11% to 14%; consensus has 7.2% in FY28</a:t>
            </a:r>
            <a:endParaRPr lang="en-US" sz="2400" dirty="0"/>
          </a:p>
        </p:txBody>
      </p:sp>
      <p:graphicFrame>
        <p:nvGraphicFramePr>
          <p:cNvPr id="4" name="Chart 0" descr=""/>
          <p:cNvGraphicFramePr/>
          <p:nvPr/>
        </p:nvGraphicFramePr>
        <p:xfrm>
          <a:off x="548640" y="1508760"/>
          <a:ext cx="5669280" cy="41148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583680" y="1600200"/>
            <a:ext cx="5029200" cy="292608"/>
          </a:xfrm>
          <a:prstGeom prst="rect">
            <a:avLst/>
          </a:prstGeom>
          <a:noFill/>
          <a:ln/>
        </p:spPr>
        <p:txBody>
          <a:bodyPr wrap="square" lIns="0" tIns="0" rIns="0" bIns="0" rtlCol="0" anchor="ctr"/>
          <a:lstStyle/>
          <a:p>
            <a:pPr indent="0" marL="0">
              <a:buNone/>
            </a:pPr>
            <a:r>
              <a:rPr lang="en-US" sz="1200" b="1" dirty="0">
                <a:solidFill>
                  <a:srgbClr val="0B2A4A"/>
                </a:solidFill>
                <a:latin typeface="Arial" pitchFamily="34" charset="0"/>
                <a:ea typeface="Arial" pitchFamily="34" charset="-122"/>
                <a:cs typeface="Arial" pitchFamily="34" charset="-120"/>
              </a:rPr>
              <a:t>Margin the price requires (long-run operating margin)</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965960"/>
          <a:ext cx="5056632" cy="914400"/>
        </p:xfrm>
        <a:graphic>
          <a:graphicData uri="http://schemas.openxmlformats.org/drawingml/2006/table">
            <a:tbl>
              <a:tblPr/>
              <a:tblGrid>
                <a:gridCol w="2651760"/>
                <a:gridCol w="2404872"/>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Required return (WACC)</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Required margin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dirty="0">
                          <a:solidFill>
                            <a:srgbClr val="1F2933"/>
                          </a:solidFill>
                          <a:latin typeface="Arial" pitchFamily="34" charset="0"/>
                          <a:ea typeface="Arial" pitchFamily="34" charset="-122"/>
                          <a:cs typeface="Arial" pitchFamily="34" charset="-120"/>
                        </a:rPr>
                        <a:t>9.4% to 10.3%</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1F2933"/>
                          </a:solidFill>
                          <a:latin typeface="Arial" pitchFamily="34" charset="0"/>
                          <a:ea typeface="Arial" pitchFamily="34" charset="-122"/>
                          <a:cs typeface="Arial" pitchFamily="34" charset="-120"/>
                        </a:rPr>
                        <a:t>11.4% to 12.2%</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200" b="1" dirty="0">
                          <a:solidFill>
                            <a:srgbClr val="1F2933"/>
                          </a:solidFill>
                          <a:latin typeface="Arial" pitchFamily="34" charset="0"/>
                          <a:ea typeface="Arial" pitchFamily="34" charset="-122"/>
                          <a:cs typeface="Arial" pitchFamily="34" charset="-120"/>
                        </a:rPr>
                        <a:t>13.4% to 14.1%</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7" name="Text 2"/>
          <p:cNvSpPr txBox="1"/>
          <p:nvPr/>
        </p:nvSpPr>
        <p:spPr>
          <a:xfrm>
            <a:off x="6583680" y="3749040"/>
            <a:ext cx="5056632" cy="1920240"/>
          </a:xfrm>
          <a:prstGeom prst="rect">
            <a:avLst/>
          </a:prstGeom>
          <a:noFill/>
          <a:ln/>
        </p:spPr>
        <p:txBody>
          <a:bodyPr wrap="square" lIns="0" tIns="0" rIns="0" bIns="0" rtlCol="0" anchor="t"/>
          <a:lstStyle/>
          <a:p>
            <a:pPr indent="0" marL="0">
              <a:spcAft>
                <a:spcPts val="1000"/>
              </a:spcAft>
              <a:buNone/>
            </a:pPr>
            <a:r>
              <a:rPr lang="en-US" sz="1300" dirty="0">
                <a:solidFill>
                  <a:srgbClr val="1F2933"/>
                </a:solidFill>
                <a:latin typeface="Arial" pitchFamily="34" charset="0"/>
                <a:ea typeface="Arial" pitchFamily="34" charset="-122"/>
                <a:cs typeface="Arial" pitchFamily="34" charset="-120"/>
              </a:rPr>
              <a:t>Even at 9%, the price needs about the 10-year average margin, 3.5 points above today, on FY28E revenue of about $43.6B versus $51.4B in FY24.</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At $35.35 and 3% sales growth, a buyer earns about 9.0% a year only if margins settle at the 10-year average; at today's 8.3% it is about 7.2%.</a:t>
            </a:r>
            <a:endParaRPr lang="en-US" sz="1300" dirty="0"/>
          </a:p>
        </p:txBody>
      </p:sp>
      <p:sp>
        <p:nvSpPr>
          <p:cNvPr id="8"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reverse DCF grid (22.5% tax, 3% revenue CAGR FY28 to FY36; range across growth assumptions), replicated cell by cell in repo; Nike FY24 and FY26 10-Ks; consensus (Oct 13, 2026). 10-year average is team arithmetic. Not a price target.</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Consensus FY28 EPS of $1.65 needs margin gains Nike has not delivered, and management will not discuss FY28</a:t>
            </a:r>
            <a:endParaRPr lang="en-US" sz="2400" dirty="0"/>
          </a:p>
        </p:txBody>
      </p:sp>
      <p:graphicFrame>
        <p:nvGraphicFramePr>
          <p:cNvPr id="4" name="Chart 0" descr=""/>
          <p:cNvGraphicFramePr/>
          <p:nvPr/>
        </p:nvGraphicFramePr>
        <p:xfrm>
          <a:off x="548640" y="150876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949440" y="1600200"/>
            <a:ext cx="4663440" cy="292608"/>
          </a:xfrm>
          <a:prstGeom prst="rect">
            <a:avLst/>
          </a:prstGeom>
          <a:noFill/>
          <a:ln/>
        </p:spPr>
        <p:txBody>
          <a:bodyPr wrap="square" lIns="0" tIns="0" rIns="0" bIns="0" rtlCol="0" anchor="ctr"/>
          <a:lstStyle/>
          <a:p>
            <a:pPr indent="0" marL="0">
              <a:buNone/>
            </a:pPr>
            <a:r>
              <a:rPr lang="en-US" sz="1200" b="1" dirty="0">
                <a:solidFill>
                  <a:srgbClr val="0B2A4A"/>
                </a:solidFill>
                <a:latin typeface="Arial" pitchFamily="34" charset="0"/>
                <a:ea typeface="Arial" pitchFamily="34" charset="-122"/>
                <a:cs typeface="Arial" pitchFamily="34" charset="-120"/>
              </a:rPr>
              <a:t>What management said (Q1 FY27 call, Oct 1, 2026)</a:t>
            </a:r>
            <a:endParaRPr lang="en-US" sz="1200" dirty="0"/>
          </a:p>
        </p:txBody>
      </p:sp>
      <p:sp>
        <p:nvSpPr>
          <p:cNvPr id="6" name="Text 2"/>
          <p:cNvSpPr txBox="1"/>
          <p:nvPr/>
        </p:nvSpPr>
        <p:spPr>
          <a:xfrm>
            <a:off x="6949440" y="1965960"/>
            <a:ext cx="4690872" cy="2743200"/>
          </a:xfrm>
          <a:prstGeom prst="rect">
            <a:avLst/>
          </a:prstGeom>
          <a:noFill/>
          <a:ln/>
        </p:spPr>
        <p:txBody>
          <a:bodyPr wrap="square" lIns="0" tIns="0" rIns="0" bIns="0" rtlCol="0" anchor="t"/>
          <a:lstStyle/>
          <a:p>
            <a:pPr indent="0" marL="0">
              <a:buNone/>
            </a:pPr>
            <a:r>
              <a:rPr lang="en-US" sz="1300" i="1" dirty="0">
                <a:solidFill>
                  <a:srgbClr val="1F2933"/>
                </a:solidFill>
                <a:latin typeface="Arial" pitchFamily="34" charset="0"/>
                <a:ea typeface="Arial" pitchFamily="34" charset="-122"/>
                <a:cs typeface="Arial" pitchFamily="34" charset="-120"/>
              </a:rPr>
              <a:t>"...probably bleed in a little bit into fiscal '28 as well."</a:t>
            </a:r>
            <a:endParaRPr lang="en-US" sz="1300" dirty="0"/>
          </a:p>
          <a:p>
            <a:pPr indent="0" marL="0">
              <a:spcAft>
                <a:spcPts val="1200"/>
              </a:spcAft>
              <a:buNone/>
            </a:pPr>
            <a:r>
              <a:rPr lang="en-US" sz="1100" dirty="0">
                <a:solidFill>
                  <a:srgbClr val="6B7280"/>
                </a:solidFill>
                <a:latin typeface="Arial" pitchFamily="34" charset="0"/>
                <a:ea typeface="Arial" pitchFamily="34" charset="-122"/>
                <a:cs typeface="Arial" pitchFamily="34" charset="-120"/>
              </a:rPr>
              <a:t>CFO Dave Denton, p.24</a:t>
            </a:r>
            <a:endParaRPr lang="en-US" sz="1300" dirty="0"/>
          </a:p>
          <a:p>
            <a:pPr indent="0" marL="0">
              <a:buNone/>
            </a:pPr>
            <a:r>
              <a:rPr lang="en-US" sz="1300" i="1" dirty="0">
                <a:solidFill>
                  <a:srgbClr val="1F2933"/>
                </a:solidFill>
                <a:latin typeface="Arial" pitchFamily="34" charset="0"/>
                <a:ea typeface="Arial" pitchFamily="34" charset="-122"/>
                <a:cs typeface="Arial" pitchFamily="34" charset="-120"/>
              </a:rPr>
              <a:t>Pace savings mostly "realized in fiscal years '29 and '30".</a:t>
            </a:r>
            <a:endParaRPr lang="en-US" sz="1300" dirty="0"/>
          </a:p>
          <a:p>
            <a:pPr indent="0" marL="0">
              <a:spcAft>
                <a:spcPts val="1200"/>
              </a:spcAft>
              <a:buNone/>
            </a:pPr>
            <a:r>
              <a:rPr lang="en-US" sz="1100" dirty="0">
                <a:solidFill>
                  <a:srgbClr val="6B7280"/>
                </a:solidFill>
                <a:latin typeface="Arial" pitchFamily="34" charset="0"/>
                <a:ea typeface="Arial" pitchFamily="34" charset="-122"/>
                <a:cs typeface="Arial" pitchFamily="34" charset="-120"/>
              </a:rPr>
              <a:t>CFO Dave Denton, p.10</a:t>
            </a:r>
            <a:endParaRPr lang="en-US" sz="1300" dirty="0"/>
          </a:p>
          <a:p>
            <a:pPr indent="0" marL="0">
              <a:buNone/>
            </a:pPr>
            <a:r>
              <a:rPr lang="en-US" sz="1300" i="1" dirty="0">
                <a:solidFill>
                  <a:srgbClr val="1F2933"/>
                </a:solidFill>
                <a:latin typeface="Arial" pitchFamily="34" charset="0"/>
                <a:ea typeface="Arial" pitchFamily="34" charset="-122"/>
                <a:cs typeface="Arial" pitchFamily="34" charset="-120"/>
              </a:rPr>
              <a:t>On FY28 revenue: "why don't we hold that question, we'll come back to it at Investor Day."</a:t>
            </a:r>
            <a:endParaRPr lang="en-US" sz="1300" dirty="0"/>
          </a:p>
          <a:p>
            <a:pPr indent="0" marL="0">
              <a:spcAft>
                <a:spcPts val="1200"/>
              </a:spcAft>
              <a:buNone/>
            </a:pPr>
            <a:r>
              <a:rPr lang="en-US" sz="1100" dirty="0">
                <a:solidFill>
                  <a:srgbClr val="6B7280"/>
                </a:solidFill>
                <a:latin typeface="Arial" pitchFamily="34" charset="0"/>
                <a:ea typeface="Arial" pitchFamily="34" charset="-122"/>
                <a:cs typeface="Arial" pitchFamily="34" charset="-120"/>
              </a:rPr>
              <a:t>CFO Dave Denton, p.25</a:t>
            </a:r>
            <a:endParaRPr lang="en-US" sz="1300" dirty="0"/>
          </a:p>
        </p:txBody>
      </p:sp>
      <p:sp>
        <p:nvSpPr>
          <p:cNvPr id="7" name="Text 3"/>
          <p:cNvSpPr txBox="1"/>
          <p:nvPr/>
        </p:nvSpPr>
        <p:spPr>
          <a:xfrm>
            <a:off x="6949440" y="4160520"/>
            <a:ext cx="4690872" cy="822960"/>
          </a:xfrm>
          <a:prstGeom prst="rect">
            <a:avLst/>
          </a:prstGeom>
          <a:noFill/>
          <a:ln/>
        </p:spPr>
        <p:txBody>
          <a:bodyPr wrap="square" lIns="0" tIns="0" rIns="0" bIns="0" rtlCol="0" anchor="t"/>
          <a:lstStyle/>
          <a:p>
            <a:pPr indent="0" marL="0">
              <a:buNone/>
            </a:pPr>
            <a:r>
              <a:rPr lang="en-US" sz="1500" b="1" dirty="0">
                <a:solidFill>
                  <a:srgbClr val="0B2A4A"/>
                </a:solidFill>
                <a:latin typeface="Arial" pitchFamily="34" charset="0"/>
                <a:ea typeface="Arial" pitchFamily="34" charset="-122"/>
                <a:cs typeface="Arial" pitchFamily="34" charset="-120"/>
              </a:rPr>
              <a:t>Nike's best one-year margin gain from FY22 to FY26 was 60 bp. The FY28 consensus needs about 170 bp.</a:t>
            </a:r>
            <a:endParaRPr lang="en-US" sz="1500" dirty="0"/>
          </a:p>
        </p:txBody>
      </p:sp>
      <p:sp>
        <p:nvSpPr>
          <p:cNvPr id="8"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Nike Q1 FY27 call transcript (Oct 1, 2026); Q1 FY27 release; Yahoo Finance earningsTrend (Oct 14, 2026). Margin arithmetic is team analysis on reported and consensus figures; FY28 revenue assumed about flat.</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Nike's full-year guide implies the next three quarters decline about twice as fast as Q1</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480560"/>
                <a:gridCol w="2743200"/>
                <a:gridCol w="3867912"/>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Revenue change vs prior year</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Q1 FY27 (actual)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Q2 to Q4 FY27 (implied by guide)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640080">
                <a:tc>
                  <a:txBody>
                    <a:bodyPr/>
                    <a:lstStyle/>
                    <a:p>
                      <a:pPr indent="0" marL="0">
                        <a:buNone/>
                      </a:pPr>
                      <a:r>
                        <a:rPr lang="en-US" sz="1200" b="1" dirty="0">
                          <a:solidFill>
                            <a:srgbClr val="1F2933"/>
                          </a:solidFill>
                          <a:latin typeface="Arial" pitchFamily="34" charset="0"/>
                          <a:ea typeface="Arial" pitchFamily="34" charset="-122"/>
                          <a:cs typeface="Arial" pitchFamily="34" charset="-120"/>
                        </a:rPr>
                        <a:t>All of Nike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800" b="1" dirty="0">
                          <a:solidFill>
                            <a:srgbClr val="1F2933"/>
                          </a:solidFill>
                          <a:latin typeface="Arial" pitchFamily="34" charset="0"/>
                          <a:ea typeface="Arial" pitchFamily="34" charset="-122"/>
                          <a:cs typeface="Arial" pitchFamily="34" charset="-120"/>
                        </a:rPr>
                        <a:t>-4.3%</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800" b="1" dirty="0">
                          <a:solidFill>
                            <a:srgbClr val="A4262C"/>
                          </a:solidFill>
                          <a:latin typeface="Arial" pitchFamily="34" charset="0"/>
                          <a:ea typeface="Arial" pitchFamily="34" charset="-122"/>
                          <a:cs typeface="Arial" pitchFamily="34" charset="-120"/>
                        </a:rPr>
                        <a:t>-7.9% to -10.6%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40080">
                <a:tc>
                  <a:txBody>
                    <a:bodyPr/>
                    <a:lstStyle/>
                    <a:p>
                      <a:pPr indent="0" marL="0">
                        <a:buNone/>
                      </a:pPr>
                      <a:r>
                        <a:rPr lang="en-US" sz="1200" b="1" dirty="0">
                          <a:solidFill>
                            <a:srgbClr val="1F2933"/>
                          </a:solidFill>
                          <a:latin typeface="Arial" pitchFamily="34" charset="0"/>
                          <a:ea typeface="Arial" pitchFamily="34" charset="-122"/>
                          <a:cs typeface="Arial" pitchFamily="34" charset="-120"/>
                        </a:rPr>
                        <a:t>NIKE Brand outside Greater China</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800" b="1" dirty="0">
                          <a:solidFill>
                            <a:srgbClr val="1F2933"/>
                          </a:solidFill>
                          <a:latin typeface="Arial" pitchFamily="34" charset="0"/>
                          <a:ea typeface="Arial" pitchFamily="34" charset="-122"/>
                          <a:cs typeface="Arial" pitchFamily="34" charset="-120"/>
                        </a:rPr>
                        <a:t>-0.8%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algn="r" indent="0" marL="0">
                        <a:buNone/>
                      </a:pPr>
                      <a:r>
                        <a:rPr lang="en-US" sz="1800" b="1" dirty="0">
                          <a:solidFill>
                            <a:srgbClr val="A4262C"/>
                          </a:solidFill>
                          <a:latin typeface="Arial" pitchFamily="34" charset="0"/>
                          <a:ea typeface="Arial" pitchFamily="34" charset="-122"/>
                          <a:cs typeface="Arial" pitchFamily="34" charset="-120"/>
                        </a:rPr>
                        <a:t>-2.6% to -7.8%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5" name="Text 1"/>
          <p:cNvSpPr txBox="1"/>
          <p:nvPr/>
        </p:nvSpPr>
        <p:spPr>
          <a:xfrm>
            <a:off x="548640" y="3520440"/>
            <a:ext cx="11091672" cy="22402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F2933"/>
                </a:solidFill>
                <a:latin typeface="Arial" pitchFamily="34" charset="0"/>
                <a:ea typeface="Arial" pitchFamily="34" charset="-122"/>
                <a:cs typeface="Arial" pitchFamily="34" charset="-120"/>
              </a:rPr>
              <a:t>Performance (running, football; about $16B) is growing high single digits. If it keeps growing 5% to 9%, the other roughly $30B of Nike must fall about 13% to 18.5% for the guide to hold.</a:t>
            </a:r>
            <a:endParaRPr lang="en-US" sz="1500" dirty="0"/>
          </a:p>
          <a:p>
            <a:pPr marL="342900" indent="-342900">
              <a:spcAft>
                <a:spcPts val="1200"/>
              </a:spcAft>
              <a:buSzPct val="100000"/>
              <a:buChar char="•"/>
            </a:pPr>
            <a:r>
              <a:rPr lang="en-US" sz="1500" dirty="0">
                <a:solidFill>
                  <a:srgbClr val="1F2933"/>
                </a:solidFill>
                <a:latin typeface="Arial" pitchFamily="34" charset="0"/>
                <a:ea typeface="Arial" pitchFamily="34" charset="-122"/>
                <a:cs typeface="Arial" pitchFamily="34" charset="-120"/>
              </a:rPr>
              <a:t>Quarterly guides were met or beaten 14 of 14 times under CEO Hill (revenue averaged 2.3 points above the midpoint). We therefore do not rely on a Q2 miss; the case is FY28.</a:t>
            </a:r>
            <a:endParaRPr lang="en-US" sz="1500" dirty="0"/>
          </a:p>
          <a:p>
            <a:pPr marL="342900" indent="-342900">
              <a:buSzPct val="100000"/>
              <a:buChar char="•"/>
            </a:pPr>
            <a:r>
              <a:rPr lang="en-US" sz="1500" dirty="0">
                <a:solidFill>
                  <a:srgbClr val="1F2933"/>
                </a:solidFill>
                <a:latin typeface="Arial" pitchFamily="34" charset="0"/>
                <a:ea typeface="Arial" pitchFamily="34" charset="-122"/>
                <a:cs typeface="Arial" pitchFamily="34" charset="-120"/>
              </a:rPr>
              <a:t>Gross margin: Q2 FY27 laps a quarter that took a 360 bp tariff hit (40.6%), and Q4 FY27 laps 49.2%, which included about 900 bp of one-off tariff refund. Reported margin will look good, then bad.</a:t>
            </a:r>
            <a:endParaRPr lang="en-US" sz="1500" dirty="0"/>
          </a:p>
        </p:txBody>
      </p:sp>
      <p:sp>
        <p:nvSpPr>
          <p:cNvPr id="6"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Nike Q1 FY27 release (guide read as -7% to -9%; wording does not specify reported vs currency-neutral) and 10-Q p.25; Q1 FY27 call; earnings call analysis (14 of 14 guides). Implied ranges are team arithmetic.</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In China, Nike's two largest partners have closed 26% of their doors in three years, faster than most domestic brands</a:t>
            </a:r>
            <a:endParaRPr lang="en-US" sz="2400" dirty="0"/>
          </a:p>
        </p:txBody>
      </p:sp>
      <p:graphicFrame>
        <p:nvGraphicFramePr>
          <p:cNvPr id="4" name="Chart 0" descr=""/>
          <p:cNvGraphicFramePr/>
          <p:nvPr/>
        </p:nvGraphicFramePr>
        <p:xfrm>
          <a:off x="548640" y="15087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863840" y="1600200"/>
            <a:ext cx="3749040" cy="548640"/>
          </a:xfrm>
          <a:prstGeom prst="rect">
            <a:avLst/>
          </a:prstGeom>
          <a:noFill/>
          <a:ln/>
        </p:spPr>
        <p:txBody>
          <a:bodyPr wrap="square" lIns="0" tIns="0" rIns="0" bIns="0" rtlCol="0" anchor="ctr"/>
          <a:lstStyle/>
          <a:p>
            <a:pPr indent="0" marL="0">
              <a:buNone/>
            </a:pPr>
            <a:r>
              <a:rPr lang="en-US" sz="2800" b="1" dirty="0">
                <a:solidFill>
                  <a:srgbClr val="0B2A4A"/>
                </a:solidFill>
                <a:latin typeface="Arial" pitchFamily="34" charset="0"/>
                <a:ea typeface="Arial" pitchFamily="34" charset="-122"/>
                <a:cs typeface="Arial" pitchFamily="34" charset="-120"/>
              </a:rPr>
              <a:t>-26%</a:t>
            </a:r>
            <a:endParaRPr lang="en-US" sz="2800" dirty="0"/>
          </a:p>
        </p:txBody>
      </p:sp>
      <p:sp>
        <p:nvSpPr>
          <p:cNvPr id="6" name="Text 2"/>
          <p:cNvSpPr txBox="1"/>
          <p:nvPr/>
        </p:nvSpPr>
        <p:spPr>
          <a:xfrm>
            <a:off x="7863840" y="2167128"/>
            <a:ext cx="3749040" cy="68580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Greater China revenue, Q1 FY27, currency-neutral. Ninth straight decline.</a:t>
            </a:r>
            <a:endParaRPr lang="en-US" sz="1200" dirty="0"/>
          </a:p>
        </p:txBody>
      </p:sp>
      <p:sp>
        <p:nvSpPr>
          <p:cNvPr id="7" name="Text 3"/>
          <p:cNvSpPr txBox="1"/>
          <p:nvPr/>
        </p:nvSpPr>
        <p:spPr>
          <a:xfrm>
            <a:off x="7863840" y="2971800"/>
            <a:ext cx="3749040" cy="548640"/>
          </a:xfrm>
          <a:prstGeom prst="rect">
            <a:avLst/>
          </a:prstGeom>
          <a:noFill/>
          <a:ln/>
        </p:spPr>
        <p:txBody>
          <a:bodyPr wrap="square" lIns="0" tIns="0" rIns="0" bIns="0" rtlCol="0" anchor="ctr"/>
          <a:lstStyle/>
          <a:p>
            <a:pPr indent="0" marL="0">
              <a:buNone/>
            </a:pPr>
            <a:r>
              <a:rPr lang="en-US" sz="2800" b="1" dirty="0">
                <a:solidFill>
                  <a:srgbClr val="0B2A4A"/>
                </a:solidFill>
                <a:latin typeface="Arial" pitchFamily="34" charset="0"/>
                <a:ea typeface="Arial" pitchFamily="34" charset="-122"/>
                <a:cs typeface="Arial" pitchFamily="34" charset="-120"/>
              </a:rPr>
              <a:t>65% to 50%</a:t>
            </a:r>
            <a:endParaRPr lang="en-US" sz="2800" dirty="0"/>
          </a:p>
        </p:txBody>
      </p:sp>
      <p:sp>
        <p:nvSpPr>
          <p:cNvPr id="8" name="Text 4"/>
          <p:cNvSpPr txBox="1"/>
          <p:nvPr/>
        </p:nvSpPr>
        <p:spPr>
          <a:xfrm>
            <a:off x="7863840" y="3538728"/>
            <a:ext cx="3749040" cy="68580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Nike's share of a 14-company China peer set, 2022 to H1 2026.</a:t>
            </a:r>
            <a:endParaRPr lang="en-US" sz="1200" dirty="0"/>
          </a:p>
        </p:txBody>
      </p:sp>
      <p:sp>
        <p:nvSpPr>
          <p:cNvPr id="9" name="Text 5"/>
          <p:cNvSpPr txBox="1"/>
          <p:nvPr/>
        </p:nvSpPr>
        <p:spPr>
          <a:xfrm>
            <a:off x="7863840" y="4343400"/>
            <a:ext cx="3749040" cy="548640"/>
          </a:xfrm>
          <a:prstGeom prst="rect">
            <a:avLst/>
          </a:prstGeom>
          <a:noFill/>
          <a:ln/>
        </p:spPr>
        <p:txBody>
          <a:bodyPr wrap="square" lIns="0" tIns="0" rIns="0" bIns="0" rtlCol="0" anchor="ctr"/>
          <a:lstStyle/>
          <a:p>
            <a:pPr indent="0" marL="0">
              <a:buNone/>
            </a:pPr>
            <a:r>
              <a:rPr lang="en-US" sz="2800" b="1" dirty="0">
                <a:solidFill>
                  <a:srgbClr val="A4262C"/>
                </a:solidFill>
                <a:latin typeface="Arial" pitchFamily="34" charset="0"/>
                <a:ea typeface="Arial" pitchFamily="34" charset="-122"/>
                <a:cs typeface="Arial" pitchFamily="34" charset="-120"/>
              </a:rPr>
              <a:t>$2.31B to $1.28B</a:t>
            </a:r>
            <a:endParaRPr lang="en-US" sz="2800" dirty="0"/>
          </a:p>
        </p:txBody>
      </p:sp>
      <p:sp>
        <p:nvSpPr>
          <p:cNvPr id="10" name="Text 6"/>
          <p:cNvSpPr txBox="1"/>
          <p:nvPr/>
        </p:nvSpPr>
        <p:spPr>
          <a:xfrm>
            <a:off x="7863840" y="4910328"/>
            <a:ext cx="3749040" cy="68580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Greater China EBIT, FY24 to FY26 (-45%).</a:t>
            </a:r>
            <a:endParaRPr lang="en-US" sz="1200" dirty="0"/>
          </a:p>
        </p:txBody>
      </p:sp>
      <p:sp>
        <p:nvSpPr>
          <p:cNvPr id="11"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HKEX annual and interim reports (Topsports 6110, Pou Sheng 3813, ANTA, Li-Ning, Xtep, 361 Degrees) through Jun 2026; Nike Q1 FY27 10-Q; FY24 and FY26 10-Ks. No source counts Nike-only doors; partners also sell adidas. Topsports reports Aug 2026 doors on Oct 28.</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The main risks to the short are running momentum, tariff relief and a crowded position; none outweighs the FY28 gap</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94560"/>
                <a:gridCol w="4572000"/>
                <a:gridCol w="4325112"/>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Risk to our view</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Our assessment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777240">
                <a:tc>
                  <a:txBody>
                    <a:bodyPr/>
                    <a:lstStyle/>
                    <a:p>
                      <a:pPr indent="0" marL="0">
                        <a:buNone/>
                      </a:pPr>
                      <a:r>
                        <a:rPr lang="en-US" sz="1200" b="1" dirty="0">
                          <a:solidFill>
                            <a:srgbClr val="1F2933"/>
                          </a:solidFill>
                          <a:latin typeface="Arial" pitchFamily="34" charset="0"/>
                          <a:ea typeface="Arial" pitchFamily="34" charset="-122"/>
                          <a:cs typeface="Arial" pitchFamily="34" charset="-120"/>
                        </a:rPr>
                        <a:t>Running recovery is real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Dick's running reviews +48.6% vs Hoka +21.6%, Brooks +15.8% (Jun to Jul 2026); Pegasus 42 and Vomero 18 rated 4.8</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Real volume, but Pegasus 42 is marked down and growth lags ASICS and adidas; offsets lifestyle, not the FY28 gap</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858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Tariffs lower than planned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About 11.4% blended in force vs 15% plan; worth about +$0.08 to $0.12 of FY28 EPS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Probably in the Oct 1 guide already; FY28 tail is two-sided (about +/-$0.10 to $0.25)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777240">
                <a:tc>
                  <a:txBody>
                    <a:bodyPr/>
                    <a:lstStyle/>
                    <a:p>
                      <a:pPr indent="0" marL="0">
                        <a:buNone/>
                      </a:pPr>
                      <a:r>
                        <a:rPr lang="en-US" sz="1200" b="1" dirty="0">
                          <a:solidFill>
                            <a:srgbClr val="1F2933"/>
                          </a:solidFill>
                          <a:latin typeface="Arial" pitchFamily="34" charset="0"/>
                          <a:ea typeface="Arial" pitchFamily="34" charset="-122"/>
                          <a:cs typeface="Arial" pitchFamily="34" charset="-120"/>
                        </a:rPr>
                        <a:t>Crowded short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99.2M shares short, 8.2% of tradable shares; 2.6 to 3.8 days to cover; borrow about 0.4% to 0.5%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Not a squeeze setup; shorts won 81 of 119 at 6 months after past records, with a fat right tail. Use puts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94360">
                <a:tc>
                  <a:txBody>
                    <a:bodyPr/>
                    <a:lstStyle/>
                    <a:p>
                      <a:pPr indent="0" marL="0">
                        <a:buNone/>
                      </a:pPr>
                      <a:r>
                        <a:rPr lang="en-US" sz="1200" b="1" dirty="0">
                          <a:solidFill>
                            <a:srgbClr val="1F2933"/>
                          </a:solidFill>
                          <a:latin typeface="Arial" pitchFamily="34" charset="0"/>
                          <a:ea typeface="Arial" pitchFamily="34" charset="-122"/>
                          <a:cs typeface="Arial" pitchFamily="34" charset="-120"/>
                        </a:rPr>
                        <a:t>Insider buying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$5.96M (2025) and $2.73M (2026 YTD), largest in 20 years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Did not predict returns historically; ex-CFO filed two Form 144 sale notices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b="1" dirty="0">
                          <a:solidFill>
                            <a:srgbClr val="1F2933"/>
                          </a:solidFill>
                          <a:latin typeface="Arial" pitchFamily="34" charset="0"/>
                          <a:ea typeface="Arial" pitchFamily="34" charset="-122"/>
                          <a:cs typeface="Arial" pitchFamily="34" charset="-120"/>
                        </a:rPr>
                        <a:t>Guidance is beaten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Quarterly guides met or beaten 14 of 14 times under Hill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We do not rely on a Q2 miss; the thesis is FY28</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5"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Dick's/Foot Locker review feed (Jun to Jul 2026); tariff gap sizing (USTR Section 301 notice, Jul 2026; Nike 10-Q); FINRA (Sep 30, 2026), Ortex, Interactive Brokers borrow data; SEC Form 4 and 13F data; earnings call analysis.</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Investor Day on Nov 16 to 17 is the decisive event, two days before finals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554480"/>
                <a:gridCol w="2468880"/>
                <a:gridCol w="3749040"/>
                <a:gridCol w="3319272"/>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Date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Event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Supports the short if</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Supports a long if</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548640">
                <a:tc>
                  <a:txBody>
                    <a:bodyPr/>
                    <a:lstStyle/>
                    <a:p>
                      <a:pPr indent="0" marL="0">
                        <a:buNone/>
                      </a:pPr>
                      <a:r>
                        <a:rPr lang="en-US" sz="1200" dirty="0">
                          <a:solidFill>
                            <a:srgbClr val="1F2933"/>
                          </a:solidFill>
                          <a:latin typeface="Arial" pitchFamily="34" charset="0"/>
                          <a:ea typeface="Arial" pitchFamily="34" charset="-122"/>
                          <a:cs typeface="Arial" pitchFamily="34" charset="-120"/>
                        </a:rPr>
                        <a:t>Oct 28</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Topsports interim results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Door decline continues; China wholesale weak</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Doors stabilize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48640">
                <a:tc>
                  <a:txBody>
                    <a:bodyPr/>
                    <a:lstStyle/>
                    <a:p>
                      <a:pPr indent="0" marL="0">
                        <a:buNone/>
                      </a:pPr>
                      <a:r>
                        <a:rPr lang="en-US" sz="1200" dirty="0">
                          <a:solidFill>
                            <a:srgbClr val="1F2933"/>
                          </a:solidFill>
                          <a:latin typeface="Arial" pitchFamily="34" charset="0"/>
                          <a:ea typeface="Arial" pitchFamily="34" charset="-122"/>
                          <a:cs typeface="Arial" pitchFamily="34" charset="-120"/>
                        </a:rPr>
                        <a:t>About Nov 10</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Feng Tay October revenue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Worse than -8% (two-year, USD) while peer factories hold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Better than -3%</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Arial" pitchFamily="34" charset="0"/>
                          <a:ea typeface="Arial" pitchFamily="34" charset="-122"/>
                          <a:cs typeface="Arial" pitchFamily="34" charset="-120"/>
                        </a:rPr>
                        <a:t>Nov 14 to 20</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Dividend declaration</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Cut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Raise well above token level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40080">
                <a:tc>
                  <a:txBody>
                    <a:bodyPr/>
                    <a:lstStyle/>
                    <a:p>
                      <a:pPr indent="0" marL="0">
                        <a:buNone/>
                      </a:pPr>
                      <a:r>
                        <a:rPr lang="en-US" sz="1200" b="1" dirty="0">
                          <a:solidFill>
                            <a:srgbClr val="A4262C"/>
                          </a:solidFill>
                          <a:latin typeface="Arial" pitchFamily="34" charset="0"/>
                          <a:ea typeface="Arial" pitchFamily="34" charset="-122"/>
                          <a:cs typeface="Arial" pitchFamily="34" charset="-120"/>
                        </a:rPr>
                        <a:t>Nov 16 to 17</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Nike Investor Day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FY28 EPS framed below about $1.50, or revenue below flat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FY28 held, plus FY29 margin target above about 9%</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Arial" pitchFamily="34" charset="0"/>
                          <a:ea typeface="Arial" pitchFamily="34" charset="-122"/>
                          <a:cs typeface="Arial" pitchFamily="34" charset="-120"/>
                        </a:rPr>
                        <a:t>Nov 19</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Finals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Update pitch for Investor Day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Update pitch for Investor Day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48640">
                <a:tc>
                  <a:txBody>
                    <a:bodyPr/>
                    <a:lstStyle/>
                    <a:p>
                      <a:pPr indent="0" marL="0">
                        <a:buNone/>
                      </a:pPr>
                      <a:r>
                        <a:rPr lang="en-US" sz="1200" dirty="0">
                          <a:solidFill>
                            <a:srgbClr val="1F2933"/>
                          </a:solidFill>
                          <a:latin typeface="Arial" pitchFamily="34" charset="0"/>
                          <a:ea typeface="Arial" pitchFamily="34" charset="-122"/>
                          <a:cs typeface="Arial" pitchFamily="34" charset="-120"/>
                        </a:rPr>
                        <a:t>About Dec 17</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b="1" dirty="0">
                          <a:solidFill>
                            <a:srgbClr val="1F2933"/>
                          </a:solidFill>
                          <a:latin typeface="Arial" pitchFamily="34" charset="0"/>
                          <a:ea typeface="Arial" pitchFamily="34" charset="-122"/>
                          <a:cs typeface="Arial" pitchFamily="34" charset="-120"/>
                        </a:rPr>
                        <a:t>Q2 FY27 results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Gross margin below 40.6%</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Gross margin well above 41% with pricing positive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5"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Nike Q4 FY26 call (Investor Day date, Jun 30, 2026); Taiwan MOPS; HKEX; team decision rules (research_notes/Long or short cruxes/00_SCOREBOARD.md). Dates for peer and supplier releases are expected, not confirmed.</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Appendix: independent checkers downgraded several early findings, and the deck uses the corrected grades</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206240"/>
                <a:gridCol w="6885432"/>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Early claim</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After checking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566928">
                <a:tc>
                  <a:txBody>
                    <a:bodyPr/>
                    <a:lstStyle/>
                    <a:p>
                      <a:pPr indent="0" marL="0">
                        <a:buNone/>
                      </a:pPr>
                      <a:r>
                        <a:rPr lang="en-US" sz="1200" dirty="0">
                          <a:solidFill>
                            <a:srgbClr val="1F2933"/>
                          </a:solidFill>
                          <a:latin typeface="Arial" pitchFamily="34" charset="0"/>
                          <a:ea typeface="Arial" pitchFamily="34" charset="-122"/>
                          <a:cs typeface="Arial" pitchFamily="34" charset="-120"/>
                        </a:rPr>
                        <a:t>Resale decline has stopped (Nike + Jordan -2.3% YoY)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Mostly the weaker yen; about -9.5% in USD, rivals -5.5%. Launch-premium gain disappears for men's sizes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66928">
                <a:tc>
                  <a:txBody>
                    <a:bodyPr/>
                    <a:lstStyle/>
                    <a:p>
                      <a:pPr indent="0" marL="0">
                        <a:buNone/>
                      </a:pPr>
                      <a:r>
                        <a:rPr lang="en-US" sz="1200" dirty="0">
                          <a:solidFill>
                            <a:srgbClr val="1F2933"/>
                          </a:solidFill>
                          <a:latin typeface="Arial" pitchFamily="34" charset="0"/>
                          <a:ea typeface="Arial" pitchFamily="34" charset="-122"/>
                          <a:cs typeface="Arial" pitchFamily="34" charset="-120"/>
                        </a:rPr>
                        <a:t>Market size: strong short on North America volume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Not supported for the last four quarters (Nike units at or above real spending); rests on FY24 to FY25 and price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Arial" pitchFamily="34" charset="0"/>
                          <a:ea typeface="Arial" pitchFamily="34" charset="-122"/>
                          <a:cs typeface="Arial" pitchFamily="34" charset="-120"/>
                        </a:rPr>
                        <a:t>Factory vs US imports: strong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Moderate; four of seven benchmarks are the same goods from the same countries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Arial" pitchFamily="34" charset="0"/>
                          <a:ea typeface="Arial" pitchFamily="34" charset="-122"/>
                          <a:cs typeface="Arial" pitchFamily="34" charset="-120"/>
                        </a:rPr>
                        <a:t>Product hiring share doubled to 36%</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Overstated; October open postings are about 5% to 6% below last year</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66928">
                <a:tc>
                  <a:txBody>
                    <a:bodyPr/>
                    <a:lstStyle/>
                    <a:p>
                      <a:pPr indent="0" marL="0">
                        <a:buNone/>
                      </a:pPr>
                      <a:r>
                        <a:rPr lang="en-US" sz="1200" dirty="0">
                          <a:solidFill>
                            <a:srgbClr val="1F2933"/>
                          </a:solidFill>
                          <a:latin typeface="Arial" pitchFamily="34" charset="0"/>
                          <a:ea typeface="Arial" pitchFamily="34" charset="-122"/>
                          <a:cs typeface="Arial" pitchFamily="34" charset="-120"/>
                        </a:rPr>
                        <a:t>Store closures: 33 of 73 US in-line stores (45%)</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Confirmed, but all small Well Collective doors; about 0.15% to 0.35% of revenue, so weak as a revenue signal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Arial" pitchFamily="34" charset="0"/>
                          <a:ea typeface="Arial" pitchFamily="34" charset="-122"/>
                          <a:cs typeface="Arial" pitchFamily="34" charset="-120"/>
                        </a:rPr>
                        <a:t>Positioning (13F exits, short interest, insider buying)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Did not predict returns in historical tests; fund exits overstated about fivefold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5" name="Source"/>
          <p:cNvSpPr txBox="1"/>
          <p:nvPr/>
        </p:nvSpPr>
        <p:spPr>
          <a:xfrm>
            <a:off x="548640" y="5870448"/>
            <a:ext cx="11091672" cy="502920"/>
          </a:xfrm>
          <a:prstGeom prst="rect">
            <a:avLst/>
          </a:prstGeom>
          <a:noFill/>
          <a:ln/>
        </p:spPr>
        <p:txBody>
          <a:bodyPr wrap="square" lIns="0" tIns="0" rIns="0" bIns="0" rtlCol="0" anchor="b"/>
          <a:lstStyle/>
          <a:p>
            <a:pPr indent="0" marL="0">
              <a:buNone/>
            </a:pPr>
            <a:r>
              <a:rPr lang="en-US" sz="1000" dirty="0">
                <a:solidFill>
                  <a:srgbClr val="6B7280"/>
                </a:solidFill>
                <a:latin typeface="Arial" pitchFamily="34" charset="0"/>
                <a:ea typeface="Arial" pitchFamily="34" charset="-122"/>
                <a:cs typeface="Arial" pitchFamily="34" charset="-120"/>
              </a:rPr>
              <a:t>Sources: checker reviews in data/hunt/*/README.md and research_notes/Long or short cruxes/. Unmeasurable: Nike US shipment volumes (masked consignee), Census API (registration required).</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1672" cy="914400"/>
          </a:xfrm>
          <a:prstGeom prst="rect">
            <a:avLst/>
          </a:prstGeom>
          <a:noFill/>
          <a:ln/>
        </p:spPr>
        <p:txBody>
          <a:bodyPr wrap="square" lIns="0" tIns="0" rIns="0" bIns="0" rtlCol="0" anchor="t"/>
          <a:lstStyle/>
          <a:p>
            <a:pPr algn="l" indent="0" marL="0">
              <a:buNone/>
            </a:pPr>
            <a:r>
              <a:rPr lang="en-US" sz="2400" b="1" dirty="0">
                <a:solidFill>
                  <a:srgbClr val="0B2A4A"/>
                </a:solidFill>
                <a:latin typeface="Arial" pitchFamily="34" charset="0"/>
                <a:ea typeface="Arial" pitchFamily="34" charset="-122"/>
                <a:cs typeface="Arial" pitchFamily="34" charset="-120"/>
              </a:rPr>
              <a:t>Appendix: primary sources and where the data lives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468880"/>
                <a:gridCol w="8622792"/>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Category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Sources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B2A4A"/>
                    </a:solidFill>
                  </a:tcPr>
                </a:tc>
              </a:tr>
              <a:tr h="6858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Nike filings and calls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FY24, FY25, FY26 Form 10-K; Q1 FY27 Form 10-Q and earnings release (Oct 1, 2026); official call transcripts Q1 FY21 to Q1 FY27 (investors.nike.com)</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858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Peers and market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adidas, On, Deckers, ASICS results; HKEX filings (Topsports, Pou Sheng, ANTA, Li-Ning, Xtep, 361); Taiwan MOPS (Feng Tay and others); Yahoo Finance; FINRA; BEA; BLS; China NBS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858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Alternative data</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Common Crawl nike.com panel; Nike store API; SNKRDUNK resale; Dick's, Foot Locker and Fleet Feet product feeds; Google Play reviews; Wikipedia pageviews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r h="685800">
                <a:tc>
                  <a:txBody>
                    <a:bodyPr/>
                    <a:lstStyle/>
                    <a:p>
                      <a:pPr indent="0" marL="0">
                        <a:buNone/>
                      </a:pPr>
                      <a:r>
                        <a:rPr lang="en-US" sz="1200" b="1" dirty="0">
                          <a:solidFill>
                            <a:srgbClr val="1F2933"/>
                          </a:solidFill>
                          <a:latin typeface="Arial" pitchFamily="34" charset="0"/>
                          <a:ea typeface="Arial" pitchFamily="34" charset="-122"/>
                          <a:cs typeface="Arial" pitchFamily="34" charset="-120"/>
                        </a:rPr>
                        <a:t>Analysis in the repo</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research_notes/Long or short cruxes/ (scoreboard and eight question notes); data/hunt/ (cleaned data and scripts); research_notes/Refinitiv pull list.md (data still to pull)</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ED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ike Short Thesis">
  <a:themeElements>
    <a:clrScheme name="Nike Short Thesis">
      <a:dk1>
        <a:srgbClr val="1F2933"/>
      </a:dk1>
      <a:lt1>
        <a:srgbClr val="FFFFFF"/>
      </a:lt1>
      <a:dk2>
        <a:srgbClr val="0B2A4A"/>
      </a:dk2>
      <a:lt2>
        <a:srgbClr val="EEF1F5"/>
      </a:lt2>
      <a:accent1>
        <a:srgbClr val="0B2A4A"/>
      </a:accent1>
      <a:accent2>
        <a:srgbClr val="A4262C"/>
      </a:accent2>
      <a:accent3>
        <a:srgbClr val="5B7083"/>
      </a:accent3>
      <a:accent4>
        <a:srgbClr val="9FB0C0"/>
      </a:accent4>
      <a:accent5>
        <a:srgbClr val="2F6B4F"/>
      </a:accent5>
      <a:accent6>
        <a:srgbClr val="C9CED6"/>
      </a:accent6>
      <a:hlink>
        <a:srgbClr val="1F4E79"/>
      </a:hlink>
      <a:folHlink>
        <a:srgbClr val="5B7083"/>
      </a:folHlink>
    </a:clrScheme>
    <a:fontScheme name="Nike Short Thes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Nike, Inc. (NKE): Short thesis</dc:title>
  <dc:subject>PptxGenJS Presentation</dc:subject>
  <dc:creator>Team draft</dc:creator>
  <cp:lastModifiedBy>Team draft</cp:lastModifiedBy>
  <cp:revision>1</cp:revision>
  <dcterms:created xsi:type="dcterms:W3CDTF">2026-10-14T13:58:26Z</dcterms:created>
  <dcterms:modified xsi:type="dcterms:W3CDTF">2026-10-14T13:58:26Z</dcterms:modified>
</cp:coreProperties>
</file>